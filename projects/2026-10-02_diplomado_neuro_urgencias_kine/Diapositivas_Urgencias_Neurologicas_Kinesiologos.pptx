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módulo. Sesión grabada: avisar al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Conectar con el perfil del curso: mucha experiencia en VMI/VMNI, poca en neurología. Hoy el foco es reconocer, escalar y proteger vía aérea y ventilación.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Declarar la regla R8: todo caso es ficticio. Recordar que la grabación quedará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Respuesta esperada: Glasgow 7 (O2 V2 M3). Hipertensión + bradicardia + respiración irregular + pupila fija: herniación hasta demostrar lo contrario. Caso ficticio.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tabla en pantalla. Insistir en documentar componentes (por ejemplo O2 V2 M3) y no solo el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total micro-clase 1 del bloque: 15 min incluyendo esta lámina y la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Mnemotecnia de apoyo. Verificar siempre glicemia: es la causa reversible más rápida de descartar.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Muchos kinesiólogos conocen las maniobras vestibulares: enfatizar cuándo NO hacerlas.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min. Los videos deben ser de actores o material con consentimiento y sin datos identificables.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de cierre del bloque. Pregunta de foro 1: ¿qué cambiarías en tu servicio para escalar más rápido un deterioro neurológico?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Hora de inicio = última vez visto normal (07:30), no la de llegada. Caso ficticio.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Micro-clase 1 (20 min en total con las 2 láminas siguientes).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Reconocimiento, no diagnóstico. El kinesiólogo acelera el reloj activando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fijar cifras exactas en la clase sin verificar la guía vigente: ver slide de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Micro-clase 2, 15 min. Umbral de oxígeno a confirmar en guía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retoma en el bloque 4 con el caso integrador.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caso se bifurca según la votación (por ejemplo si no se mide glicemia: hipoglicemia no detectada).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de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Caso ficticio.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Micro-clase 1, 20 min con la lámina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que la cianosis transitoria es esperable; vigilar la recuperación de la SpO2.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Micro-clase 2, 15 min. No dictar dosis: es decisión médica.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está el centro del rol kinésico del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Debriefing de 10 min al final con foco en errores críticos (por ejemplo no cronometrar).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Micro-clase 1 del bloque 4: 20 min con las 2 láminas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 con el caso gancho del bloque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Micro-clase 2, 20 min. Es el puente con el bloque de ventilación del paciente neurocrítico que viene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 en salas. Caso ficticio con HSA confirmada en TAC.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min. Confirmar fechas de entrega con la coordinación.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Ninguna cifra de esta presentación está respaldada por una cita verificada todavía.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Urgencias neurológicas para kinesiólogos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DDE6F0"/>
                </a:solidFill>
                <a:latin typeface="Calibri"/>
              </a:rPr>
              <a:t>Diplomado en Urgencias para Kinesiólogos · USS · Módulo 3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DDE6F0"/>
                </a:solidFill>
                <a:latin typeface="Calibri"/>
              </a:rPr>
              <a:t>Sábado 14 de noviembre de 2026 · 08:30–15:20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DDE6F0"/>
                </a:solidFill>
                <a:latin typeface="Calibri"/>
              </a:rPr>
              <a:t>Dr. Cristian Ugalde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Objetivos de la jornada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Evaluar conciencia y reconocer herniación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Distinguir coma estructural vs metabólico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Reconocer ACV y activar el código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Actuar en crisis y estatus epiléptico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Neuroventilar sin lesión secundaria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08:30 Bloque 1: conciencia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10:00 Bloque 2: ACV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11:30 Bloque 3: convulsiones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14:00 Bloque 4: infecciones, hemorragia, neuroventilación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Cómo trabajaremos hoy (online)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Sesión grabada: no compartir datos de pacientes reales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Casos ficticios y videos de pacientes simulados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Votaciones en vivo y chat para dudas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Salas pequeñas con rol rotativo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Cámara encendida en las salas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Evaluación del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Foros: 40%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Prueba de alternativas y análisis de casos: 60%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Una pregunta de foro por bloque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Bloque 1 · Caso gancho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Mujer de 68 años, somnolienta hace 2 h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SpO2 90% aire ambiente, FR 10 irregular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PA 190/100 mmHg, FC 52 lpm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Pupila derecha 6 mm, no reactiva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Abre ojos al dolor, sonidos ininteligibles, flexión anormal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Votación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¿Cuál es su Glasgow?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¿Qué haces primero?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¿A quién avisas y qué dices?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Escala de Glasgow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Ojos (1–4): espontánea, voz, dolor, ninguna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Verbal (1–5): orientado, confuso, palabras, sonidos, ninguna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Motor (1–6): obedece, localiza, retira, flexión anormal, extensión, ninguna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Rango 3–15; registrar cada componente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Paciente intubado: verbal = T (no sumar)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Errores frecuentes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Puntuar la mejor respuesta motora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Estímulo central (esternón o trapecio)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Documentar sedación y fármacos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Pupilas y patrón respiratorio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Midriasis fija unilateral: herniación uncal hasta probar lo contrario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Pupilas puntiformes: puente u opiáceos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Tríada de Cushing: HTA, bradicardia, respiración irregular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Cheyne-Stokes: disfunción hemisférica o metabólica profunda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Medir siempre con luz y repetir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Alarma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Cambio pupilar agudo = avisar de inmediato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No esperar el Glasgow para escalar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Coma: estructural vs metabólico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Estructural: focalidad, asimetría pupilar, signos de HTIC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Metabólico o tóxico: pupilas simétricas y reactivas, sin focalidad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AEIOU-TIPS como ayuda mnemotécnica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Siempre: glicemia capilar, SpO2, temperatura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Ante duda, tratar como estructural hasta imagen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AEIOU-TIPS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Alcohol, Epilepsia, Insulina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Opiáceos, Uremia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Trauma, Infección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Psiquiátrico, Stroke o shock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Vértigo y cefalea: banderas rojas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Vértigo periférico: nistagmo unidireccional, se fatiga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Vértigo central: nistagmo vertical o que cambia de dirección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Incapacidad para sentarse sin apoyo: sospechar central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Cefalea SNOOP: sistémico, neurológico, súbita, &gt;50 años, patrón nuevo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Cefalea en trueno: sospechar HSA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Kinesiología vestibular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No realizar maniobras de reposicionamiento si hay sospecha central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Derivar y comunicar con SBAR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PRÁCTICA 1 · Puntúa y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Parte A (10 min): videos de pacientes simulados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Vota Glasgow y pupilas en el chat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Parte B (15 min): salas de 4 personas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Roles: examinador, registro, comunicador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Producto: SBAR de 30 segundos por sala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2 casos impresos o en pantalla compartida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Checklist de Glasgow y pupilas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Comunicar: SBAR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S: situación actual en una frase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B: antecedentes relevantes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A: evaluación (Glasgow, pupilas, SpO2, FR, PA, FC)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R: recomendación y solicitud concreta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Ejemplo: GCS 7, midriasis derecha, Cushing: solicito evaluación inmediata y preparar vía aérea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Tu aporte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Evalúas vía aérea y ventilación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Posición: cabecera a 30°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Preparas aspiración y bolsa-mascarilla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Bloque 2 · Caso gancho ACV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Hombre de 72 años con fibrilación auricular sin anticoagulación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Esposa: habla raro y no mueve el brazo izquierdo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Visto normal a las 07:30; llega a las 09:10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Desviación de la comisura izquierda, disartria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SpO2 93%, glicemia pendiente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Votación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¿Qué hora anotas como inicio?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¿Qué haces en los primeros 5 min?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Isquemia, hemorragia y el reloj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Isquémico: oclusión arterial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Hemorrágico: hemorragia intracerebral o subaracnoidea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La clínica no los distingue: se requiere neuroimagen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Tiempo es cerebro: cada minuto cuenta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Hora de inicio = última vez visto normal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Reloj del ACV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Registra la hora al primer contacto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No dar nada por boca hasta tamizaje de deglución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Reconocer: BE-FAST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B: balance (pérdida de equilibrio)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E: eyes (alteración visual)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F: face (asimetría facial)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A: arm (debilidad de brazo)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S: speech (habla alterada). T: time (hora)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Si es positivo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Activar código ACV según protocolo local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Registrar hora y glicemia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Evaluar con escala del equipo (por ejemplo NIHSS)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Reperfusión: lo que debes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Trombólisis IV: ventana estrecha y requiere TAC sin hemorragia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Trombectomía: oclusión de gran vaso, ventana ampliada en casos seleccionados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La decisión es médica; el kinesiólogo reduce el tiempo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Cada retraso disminuye el beneficio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Conocer el circuito local de código ACV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⚠ Por verificar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Ventanas y criterios exactos según guía MINSAL y AHA/ASA vigente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No usar cifras sin confirmar (R1)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Primeros minutos: ABCDE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A: vía aérea permeable, aspirar, posición segura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B: oxígeno solo si hay hipoxemia (SpO2 &lt;94%)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C: monitorizar; no bajar PA sin indicación médica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D: glicemia capilar y Glasgow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E: ayuno hasta tamizaje de deglución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Rol kinésico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Vía aérea y oxigenación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Prevención de aspiración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Apoyo ventilatorio si cae la conciencia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ACV hemorrágico y HSA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Hemorragia intracerebral: cefalea, vómitos, caída de conciencia, HTA severa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HSA: cefalea en trueno, ± rigidez de nuca, pérdida de conciencia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Riesgos: HTIC, hidrocefalia, resangrado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Evitar: Valsalva, tos, aspiración prolongada, hipoxemia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Derivar a centro con neurocirugía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Idea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Hipoxemia e hipotensión empeoran la lesión secundaria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PRÁCTICA 2 · Caso ramificado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30 min en salas de 4 a 5 personas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Decisión 1: reconocer y activar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Decisión 2: tiempo, glicemia y vía aérea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Decisión 3: reporte y traslado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Cada sala vota en el chat; discusión con resultados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Una frase de reporte SBAR por sala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Un error crítico detectado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Rol kinésico en el ACV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Vía aérea y oxigenación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Posicionamiento y prevención de aspiración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Participar en el tamizaje de deglución según protocolo local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Ventilación si hay compromiso de conciencia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Movilización precoz solo con indicación médica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Foro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¿Quién hace el tamizaje de deglución en tu servicio y cuánto demora?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Bloque 3 · Caso gancho convulsión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Hombre de 35 años en sala de espera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Crisis tónico-clónica generalizada, cianosis, salivación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 los 3 minutos continúa convulsionando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No hay acceso venoso aún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Familiar pide que le pongan algo en la boca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Votación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¿Qué haces?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¿Qué NO haces?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¿Cuándo pides ayuda?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Qué es una crisis (y qué 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Focal vs generalizada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Provocada: hipoglicemia, alcohol, tóxicos, TEC, infección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Mimics: síncope convulsivo, crisis psicógena no epiléptica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Pistas de epilepsia: mordedura lateral de lengua, confusión postictal prolongada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Siempre medir glicemia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Idea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Una crisis que dura más de 5 min es una emergencia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Primeros pasos en una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Anotar hora de inicio y cronometrar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Proteger la cabeza y apartar objetos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NO introducir objetos en la boca ni sujetar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Al cesar: posición lateral, oxígeno, aspiración suave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Glicemia y signos vitales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Regla de 5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Crisis &gt;5 min: activar equipo de urgencia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Estatus epiléptico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Crisis &gt;5 min o repetidas sin recuperación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1ª línea: benzodiacepina (dosis y vía: decisión médica)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2ª línea: antiepilépticos IV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Refractario: UCI y probable intubación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Buscar la causa: glicemia, tóxicos, infección, estructural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⚠ Por verificar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Esquema de fármacos con protocolo local y guía vigente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Vía aérea y ventilación en el estatus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Hipoxemia por contracción muscular y apnea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Las benzodiacepinas deprimen la ventilación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Preparar bolsa-mascarilla, aspiración y O2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Intubar si no protege vía aérea o hay estatus refractario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Tras intubar: ventilación protectora y vigilar acidosis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Tu aporte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Anticiparte a la depresión respiratoria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Ventilar con bolsa si es necesario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PRÁCTICA 3 · Simulación con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35 min en salas de 4 personas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Roles: líder, vía aérea, medicación, registro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Escenario: crisis, estatus, depresión respiratoria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El registro cronometra y completa el checklist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Rotar roles en un segundo escenario corto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Hora de inicio anotada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Vía aérea protegida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Glicemia medida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Escalamiento a los 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Bloque 4 · Meningitis y encefalitis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Fiebre, rigidez de nuca y alteración de conciencia (no siempre completa)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Meningitis bacteriana: antibiótico empírico precoz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Encefalitis herpética: aciclovir empírico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Pistas: crisis, fiebre, cambios de conducta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Precauciones por gotitas hasta descartar meningococo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Tu aporte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Equipo de protección y aislamiento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Vía aérea y ventilación si cae la conciencia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HTIC y herniación (repaso)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Signos: cefalea, vómitos, caída de conciencia, pupila, Cushing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Cabecera a 30° y cabeza en línea media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Evitar compresión yugular (por ejemplo cinta de TET apretada)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Tratar hipoxemia e hipercapnia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Analgesia o sedación antes de aspirar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Idea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Toda maniobra que suba la PIC puede ser la última gota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Neuroventilación: metas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Evitar hipoxemia (SpO2 ≥94%) e hipotensión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PaCO2 en normocapnia (35–45 mmHg)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Hiperventilación: solo puente breve ante herniación inminente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Aspiración breve y con preoxigenación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PEEP con monitoreo de PA y PIC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⚠ Por verificar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Metas exactas con guías vigentes de cuidado neurocrítico (R1)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PRÁCTICA 4 · Caso integrador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Hombre de 58 años, cefalea súbita y caída de GCS 15→8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Fase 1: reconocimiento y escalamiento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Fase 2: vía aérea e intubación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Fase 3: ventilación y metas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Fase 4: traslado seguro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Plan ventilatorio en 3 líneas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Lista de errores a evitar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Evaluación y tareas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Foro (40%): 4 preguntas, una por bloque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Prueba de alternativas y análisis de casos (60%)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Banco de 28 preguntas con retroalimentación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Encuesta de satisfacción de la sesión</a:t>
            </a:r>
          </a:p>
          <a:p>
            <a:pPr>
              <a:spcAft>
                <a:spcPts val="500"/>
              </a:spcAft>
            </a:pPr>
            <a:r>
              <a:rPr sz="1700" b="0">
                <a:latin typeface="Calibri"/>
              </a:rPr>
              <a:t>• Plazos según calendario del Diplomado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Pregunta de foro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¿Qué barrera impide hoy neuroventilar bien en tu servicio?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Mensajes para llevar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Evalúa y escala: Glasgow, pupilas y SBAR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ACV: la hora de inicio es la última vez visto normal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Crisis &gt;5 min: emergencia; no sujetar ni poner objetos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Evita hipoxemia, hipotensión e hipercapnia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Protege la vía aérea y anticipa la depresión respiratoria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Dr. Cristian Ugalde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Preguntas por el foro del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Fuentes por verificar antes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Guía MINSAL/GES de ACV isquémico (Chile)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AHA/ASA: manejo agudo del ACV isquémico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AES/Neurocritical Care Society: estatus epiléptico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Brain Trauma Foundation y guías de cuidado neurocrítico</a:t>
            </a:r>
          </a:p>
          <a:p>
            <a:pPr>
              <a:spcAft>
                <a:spcPts val="500"/>
              </a:spcAft>
            </a:pPr>
            <a:r>
              <a:rPr sz="1500" b="0">
                <a:latin typeface="Calibri"/>
              </a:rPr>
              <a:t>• Estado: sin cita verificada aún (R1, R2)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65760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Pendiente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Verificar ventanas de reperfusión, umbral de O2 y metas de PaCO2</a:t>
            </a:r>
          </a:p>
          <a:p>
            <a:pPr>
              <a:spcAft>
                <a:spcPts val="500"/>
              </a:spcAft>
            </a:pPr>
            <a:r>
              <a:rPr sz="1600" b="0">
                <a:latin typeface="Calibri"/>
              </a:rPr>
              <a:t>• Agregar referencias en Vancouver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Dr. Cristian Ugalde · Diplomado en Urgencias para Kinesiólogos · USS · 14-nov-2026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