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71" r:id="rId2"/>
    <p:sldMasterId id="2147483664" r:id="rId3"/>
    <p:sldMasterId id="2147483660" r:id="rId4"/>
  </p:sldMasterIdLst>
  <p:handoutMasterIdLst>
    <p:handoutMasterId r:id="rId11"/>
  </p:handoutMasterIdLst>
  <p:sldIdLst>
    <p:sldId id="259" r:id="rId5"/>
    <p:sldId id="263" r:id="rId6"/>
    <p:sldId id="264" r:id="rId7"/>
    <p:sldId id="265" r:id="rId8"/>
    <p:sldId id="262" r:id="rId9"/>
    <p:sldId id="260" r:id="rId10"/>
    <p:sldId id="266" r:id="rId17"/>
    <p:sldId id="267" r:id="rId18"/>
    <p:sldId id="268" r:id="rId19"/>
    <p:sldId id="269" r:id="rId20"/>
    <p:sldId id="270" r:id="rId21"/>
  </p:sldIdLst>
  <p:sldSz cx="9144000" cy="5715000" type="screen16x10"/>
  <p:notesSz cx="6858000" cy="9144000"/>
  <p:defaultTextStyle>
    <a:defPPr>
      <a:defRPr lang="es-E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 xmlns="">
        <p15:guide id="1" orient="horz" pos="3555">
          <p15:clr>
            <a:srgbClr val="A4A3A4"/>
          </p15:clr>
        </p15:guide>
        <p15:guide id="2" pos="2882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2" frameSlides="1"/>
  <p:clrMru>
    <a:srgbClr val="FFE200"/>
    <a:srgbClr val="FFF0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xmlns="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61"/>
    <p:restoredTop sz="93209"/>
  </p:normalViewPr>
  <p:slideViewPr>
    <p:cSldViewPr snapToGrid="0" snapToObjects="1" showGuides="1">
      <p:cViewPr>
        <p:scale>
          <a:sx n="126" d="100"/>
          <a:sy n="126" d="100"/>
        </p:scale>
        <p:origin x="-640" y="-512"/>
      </p:cViewPr>
      <p:guideLst>
        <p:guide orient="horz" pos="2963"/>
        <p:guide pos="2882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handoutMaster" Target="handoutMasters/handoutMaster1.xml"/><Relationship Id="rId12" Type="http://schemas.openxmlformats.org/officeDocument/2006/relationships/printerSettings" Target="printerSettings/printerSettings1.bin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50A3055-A04C-8244-B61D-89076C9654A8}" type="datetimeFigureOut">
              <a:rPr lang="es-ES" smtClean="0"/>
              <a:t>05-02-19</a:t>
            </a:fld>
            <a:endParaRPr lang="es-ES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1611A0-C513-7D40-8F4F-33BCA4CF8B70}" type="slidenum">
              <a:rPr lang="es-ES" smtClean="0"/>
              <a:t>‹Nr.›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9388888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jpg"/><Relationship Id="rId4" Type="http://schemas.openxmlformats.org/officeDocument/2006/relationships/image" Target="../media/image3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094243" y="2253211"/>
            <a:ext cx="7197430" cy="986743"/>
          </a:xfrm>
        </p:spPr>
        <p:txBody>
          <a:bodyPr anchor="t">
            <a:normAutofit/>
          </a:bodyPr>
          <a:lstStyle>
            <a:lvl1pPr algn="r">
              <a:defRPr sz="4400">
                <a:solidFill>
                  <a:schemeClr val="tx1"/>
                </a:solidFill>
              </a:defRPr>
            </a:lvl1pPr>
          </a:lstStyle>
          <a:p>
            <a:r>
              <a:rPr lang="es-ES_tradnl" smtClean="0"/>
              <a:t>Clic para editar título</a:t>
            </a:r>
            <a:endParaRPr lang="es-E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 hasCustomPrompt="1"/>
          </p:nvPr>
        </p:nvSpPr>
        <p:spPr>
          <a:xfrm>
            <a:off x="1094243" y="3250331"/>
            <a:ext cx="7197430" cy="893298"/>
          </a:xfrm>
        </p:spPr>
        <p:txBody>
          <a:bodyPr>
            <a:normAutofit/>
          </a:bodyPr>
          <a:lstStyle>
            <a:lvl1pPr marL="0" indent="0" algn="r">
              <a:lnSpc>
                <a:spcPct val="90000"/>
              </a:lnSpc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_tradnl" dirty="0" smtClean="0"/>
              <a:t>Haga clic para modificar el estilo </a:t>
            </a:r>
            <a:br>
              <a:rPr lang="es-ES_tradnl" dirty="0" smtClean="0"/>
            </a:br>
            <a:r>
              <a:rPr lang="es-ES_tradnl" dirty="0" smtClean="0"/>
              <a:t>de subtítulo del patrón</a:t>
            </a:r>
            <a:endParaRPr lang="es-ES" dirty="0"/>
          </a:p>
        </p:txBody>
      </p:sp>
      <p:pic>
        <p:nvPicPr>
          <p:cNvPr id="6" name="Imagen 5" descr="fondo 2727.ai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29617" y="1"/>
            <a:ext cx="4714384" cy="1247917"/>
          </a:xfrm>
          <a:prstGeom prst="rect">
            <a:avLst/>
          </a:prstGeom>
          <a:solidFill>
            <a:srgbClr val="3366FF"/>
          </a:solidFill>
        </p:spPr>
      </p:pic>
      <p:sp>
        <p:nvSpPr>
          <p:cNvPr id="9" name="Rectángulo 8"/>
          <p:cNvSpPr/>
          <p:nvPr userDrawn="1"/>
        </p:nvSpPr>
        <p:spPr>
          <a:xfrm flipV="1">
            <a:off x="-1" y="-4"/>
            <a:ext cx="177417" cy="1247918"/>
          </a:xfrm>
          <a:prstGeom prst="rect">
            <a:avLst/>
          </a:prstGeom>
          <a:solidFill>
            <a:srgbClr val="FFE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Rectángulo 9"/>
          <p:cNvSpPr/>
          <p:nvPr userDrawn="1"/>
        </p:nvSpPr>
        <p:spPr>
          <a:xfrm flipV="1">
            <a:off x="169335" y="5472467"/>
            <a:ext cx="8815911" cy="14775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smtClean="0"/>
              <a:t> </a:t>
            </a:r>
            <a:endParaRPr lang="es-ES" dirty="0"/>
          </a:p>
        </p:txBody>
      </p:sp>
      <p:pic>
        <p:nvPicPr>
          <p:cNvPr id="7" name="Imagen 6" descr="Fac. Medicina21.jp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507" y="82365"/>
            <a:ext cx="3456018" cy="1165553"/>
          </a:xfrm>
          <a:prstGeom prst="rect">
            <a:avLst/>
          </a:prstGeom>
        </p:spPr>
      </p:pic>
      <p:pic>
        <p:nvPicPr>
          <p:cNvPr id="11" name="Imagen 10" descr="90A-FM-HOR4.jpg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43100" y="4969127"/>
            <a:ext cx="1183252" cy="666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52951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Desarrollo de te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 dirty="0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>
          <a:xfrm>
            <a:off x="457200" y="1333500"/>
            <a:ext cx="8229600" cy="3423708"/>
          </a:xfrm>
        </p:spPr>
        <p:txBody>
          <a:bodyPr/>
          <a:lstStyle>
            <a:lvl1pPr>
              <a:defRPr sz="2600"/>
            </a:lvl1pPr>
            <a:lvl2pPr>
              <a:defRPr sz="2600"/>
            </a:lvl2pPr>
          </a:lstStyle>
          <a:p>
            <a:pPr lvl="0"/>
            <a:r>
              <a:rPr lang="es-ES_tradnl" smtClean="0"/>
              <a:t>Haga clic para modificar el estilo de texto del patrón</a:t>
            </a:r>
          </a:p>
          <a:p>
            <a:pPr lvl="1"/>
            <a:r>
              <a:rPr lang="es-ES_tradnl" smtClean="0"/>
              <a:t>Segundo nivel</a:t>
            </a:r>
          </a:p>
          <a:p>
            <a:pPr lvl="2"/>
            <a:r>
              <a:rPr lang="es-ES_tradnl" smtClean="0"/>
              <a:t>Tercer nivel</a:t>
            </a:r>
          </a:p>
          <a:p>
            <a:pPr lvl="3"/>
            <a:r>
              <a:rPr lang="es-ES_tradnl" smtClean="0"/>
              <a:t>Cuarto nivel</a:t>
            </a:r>
          </a:p>
          <a:p>
            <a:pPr lvl="4"/>
            <a:r>
              <a:rPr lang="es-ES_tradnl" smtClean="0"/>
              <a:t>Quinto nivel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06443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>
          <a:xfrm>
            <a:off x="457200" y="1333500"/>
            <a:ext cx="4038600" cy="343032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 smtClean="0"/>
              <a:t>Haga clic para modificar el estilo de texto del patrón</a:t>
            </a:r>
          </a:p>
          <a:p>
            <a:pPr lvl="1"/>
            <a:r>
              <a:rPr lang="es-ES_tradnl" smtClean="0"/>
              <a:t>Segundo nivel</a:t>
            </a:r>
          </a:p>
          <a:p>
            <a:pPr lvl="2"/>
            <a:r>
              <a:rPr lang="es-ES_tradnl" smtClean="0"/>
              <a:t>Tercer nivel</a:t>
            </a:r>
          </a:p>
          <a:p>
            <a:pPr lvl="3"/>
            <a:r>
              <a:rPr lang="es-ES_tradnl" smtClean="0"/>
              <a:t>Cuarto nivel</a:t>
            </a:r>
          </a:p>
          <a:p>
            <a:pPr lvl="4"/>
            <a:r>
              <a:rPr lang="es-ES_tradnl" smtClean="0"/>
              <a:t>Quinto nivel</a:t>
            </a:r>
            <a:endParaRPr lang="es-ES" dirty="0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>
          <a:xfrm>
            <a:off x="4648200" y="1333500"/>
            <a:ext cx="4038600" cy="343032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s-ES_tradnl" smtClean="0"/>
              <a:t>Haga clic para modificar el estilo de texto del patrón</a:t>
            </a:r>
          </a:p>
          <a:p>
            <a:pPr lvl="1"/>
            <a:r>
              <a:rPr lang="es-ES_tradnl" smtClean="0"/>
              <a:t>Segundo nivel</a:t>
            </a:r>
          </a:p>
          <a:p>
            <a:pPr lvl="2"/>
            <a:r>
              <a:rPr lang="es-ES_tradnl" smtClean="0"/>
              <a:t>Tercer nivel</a:t>
            </a:r>
          </a:p>
          <a:p>
            <a:pPr lvl="3"/>
            <a:r>
              <a:rPr lang="es-ES_tradnl" smtClean="0"/>
              <a:t>Cuarto nivel</a:t>
            </a:r>
          </a:p>
          <a:p>
            <a:pPr lvl="4"/>
            <a:r>
              <a:rPr lang="es-ES_tradnl" smtClean="0"/>
              <a:t>Quinto nivel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90623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con gráfi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/>
          </a:p>
        </p:txBody>
      </p:sp>
      <p:sp>
        <p:nvSpPr>
          <p:cNvPr id="7" name="Marcador de gráfico 6"/>
          <p:cNvSpPr>
            <a:spLocks noGrp="1"/>
          </p:cNvSpPr>
          <p:nvPr>
            <p:ph type="chart" sz="quarter" idx="13"/>
          </p:nvPr>
        </p:nvSpPr>
        <p:spPr>
          <a:xfrm>
            <a:off x="457200" y="1463123"/>
            <a:ext cx="8229600" cy="3300701"/>
          </a:xfrm>
        </p:spPr>
        <p:txBody>
          <a:bodyPr/>
          <a:lstStyle/>
          <a:p>
            <a:r>
              <a:rPr lang="es-ES_tradnl" smtClean="0"/>
              <a:t>Haga clic en el icono para agregar un gráfico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548201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 dirty="0"/>
          </a:p>
        </p:txBody>
      </p:sp>
      <p:sp>
        <p:nvSpPr>
          <p:cNvPr id="6" name="Marcador de posición de imagen 2"/>
          <p:cNvSpPr>
            <a:spLocks noGrp="1"/>
          </p:cNvSpPr>
          <p:nvPr>
            <p:ph type="pic" idx="1"/>
          </p:nvPr>
        </p:nvSpPr>
        <p:spPr>
          <a:xfrm>
            <a:off x="457200" y="1348978"/>
            <a:ext cx="8229600" cy="2988508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_tradnl" smtClean="0"/>
              <a:t>Arrastre la imagen al marcador de posición o haga clic en el icono para agregar</a:t>
            </a:r>
            <a:endParaRPr lang="es-ES" dirty="0"/>
          </a:p>
        </p:txBody>
      </p:sp>
      <p:sp>
        <p:nvSpPr>
          <p:cNvPr id="7" name="Marcador de texto 3"/>
          <p:cNvSpPr>
            <a:spLocks noGrp="1"/>
          </p:cNvSpPr>
          <p:nvPr>
            <p:ph type="body" sz="half" idx="2"/>
          </p:nvPr>
        </p:nvSpPr>
        <p:spPr>
          <a:xfrm>
            <a:off x="457200" y="4472782"/>
            <a:ext cx="8229600" cy="29104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_tradnl" smtClean="0"/>
              <a:t>Haga clic para modificar el estilo de texto del patrón</a:t>
            </a:r>
          </a:p>
        </p:txBody>
      </p:sp>
    </p:spTree>
    <p:extLst>
      <p:ext uri="{BB962C8B-B14F-4D97-AF65-F5344CB8AC3E}">
        <p14:creationId xmlns:p14="http://schemas.microsoft.com/office/powerpoint/2010/main" val="34845016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_tradnl" smtClean="0"/>
              <a:t>Clic para editar título</a:t>
            </a:r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122449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Fin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 descr="fondo 2727.ai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871648"/>
            <a:ext cx="9144000" cy="3880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68790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99917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84137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2347126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9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theme" Target="../theme/theme2.xml"/><Relationship Id="rId3" Type="http://schemas.openxmlformats.org/officeDocument/2006/relationships/image" Target="../media/image1.emf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theme" Target="../theme/theme4.xml"/><Relationship Id="rId3" Type="http://schemas.openxmlformats.org/officeDocument/2006/relationships/image" Target="../media/image4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n 6" descr="fondo 2727.ai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42" y="0"/>
            <a:ext cx="8985258" cy="1119105"/>
          </a:xfrm>
          <a:prstGeom prst="rect">
            <a:avLst/>
          </a:prstGeom>
        </p:spPr>
      </p:pic>
      <p:sp>
        <p:nvSpPr>
          <p:cNvPr id="2" name="Marcador de título 1"/>
          <p:cNvSpPr>
            <a:spLocks noGrp="1"/>
          </p:cNvSpPr>
          <p:nvPr>
            <p:ph type="title"/>
          </p:nvPr>
        </p:nvSpPr>
        <p:spPr>
          <a:xfrm>
            <a:off x="457200" y="166605"/>
            <a:ext cx="8229600" cy="9525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_tradnl" dirty="0" smtClean="0"/>
              <a:t>Clic para editar título</a:t>
            </a:r>
            <a:endParaRPr lang="es-ES" dirty="0"/>
          </a:p>
        </p:txBody>
      </p:sp>
      <p:sp>
        <p:nvSpPr>
          <p:cNvPr id="3" name="Marcador de texto 2"/>
          <p:cNvSpPr>
            <a:spLocks noGrp="1"/>
          </p:cNvSpPr>
          <p:nvPr>
            <p:ph type="body" idx="1"/>
          </p:nvPr>
        </p:nvSpPr>
        <p:spPr>
          <a:xfrm>
            <a:off x="457200" y="1333501"/>
            <a:ext cx="8229600" cy="342370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_tradnl" dirty="0" smtClean="0"/>
              <a:t>Haga clic para modificar el estilo de texto del patrón</a:t>
            </a:r>
          </a:p>
          <a:p>
            <a:pPr lvl="1"/>
            <a:r>
              <a:rPr lang="es-ES_tradnl" dirty="0" smtClean="0"/>
              <a:t>Segundo nivel</a:t>
            </a:r>
          </a:p>
          <a:p>
            <a:pPr lvl="2"/>
            <a:r>
              <a:rPr lang="es-ES_tradnl" dirty="0" smtClean="0"/>
              <a:t>Tercer nivel</a:t>
            </a:r>
          </a:p>
          <a:p>
            <a:pPr lvl="3"/>
            <a:r>
              <a:rPr lang="es-ES_tradnl" dirty="0" smtClean="0"/>
              <a:t>Cuarto nivel</a:t>
            </a:r>
          </a:p>
          <a:p>
            <a:pPr lvl="4"/>
            <a:r>
              <a:rPr lang="es-ES_tradnl" dirty="0" smtClean="0"/>
              <a:t>Quinto nivel</a:t>
            </a:r>
            <a:endParaRPr lang="es-ES" dirty="0"/>
          </a:p>
        </p:txBody>
      </p:sp>
      <p:sp>
        <p:nvSpPr>
          <p:cNvPr id="10" name="Rectángulo 9"/>
          <p:cNvSpPr/>
          <p:nvPr/>
        </p:nvSpPr>
        <p:spPr>
          <a:xfrm>
            <a:off x="0" y="166605"/>
            <a:ext cx="158742" cy="952500"/>
          </a:xfrm>
          <a:prstGeom prst="rect">
            <a:avLst/>
          </a:prstGeom>
          <a:solidFill>
            <a:srgbClr val="FFE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Rectángulo 8"/>
          <p:cNvSpPr/>
          <p:nvPr/>
        </p:nvSpPr>
        <p:spPr>
          <a:xfrm flipV="1">
            <a:off x="169335" y="5472467"/>
            <a:ext cx="8815911" cy="14775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smtClean="0"/>
              <a:t> </a:t>
            </a:r>
            <a:endParaRPr lang="es-ES" dirty="0"/>
          </a:p>
        </p:txBody>
      </p:sp>
      <p:sp>
        <p:nvSpPr>
          <p:cNvPr id="11" name="CuadroTexto 10"/>
          <p:cNvSpPr txBox="1"/>
          <p:nvPr/>
        </p:nvSpPr>
        <p:spPr>
          <a:xfrm>
            <a:off x="6388926" y="5064622"/>
            <a:ext cx="204438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2100" b="0" i="0" dirty="0" smtClean="0">
                <a:solidFill>
                  <a:srgbClr val="0070C0"/>
                </a:solidFill>
                <a:latin typeface="Arial" charset="0"/>
                <a:ea typeface="Arial" charset="0"/>
                <a:cs typeface="Arial" charset="0"/>
              </a:rPr>
              <a:t>me</a:t>
            </a:r>
            <a:r>
              <a:rPr lang="es-ES_tradnl" sz="2100" b="0" i="0" dirty="0" err="1" smtClean="0">
                <a:solidFill>
                  <a:srgbClr val="0070C0"/>
                </a:solidFill>
                <a:latin typeface="Arial" charset="0"/>
                <a:ea typeface="Arial" charset="0"/>
                <a:cs typeface="Arial" charset="0"/>
              </a:rPr>
              <a:t>dicina.uc.cl</a:t>
            </a:r>
            <a:endParaRPr lang="es-ES" sz="2100" b="0" i="0" dirty="0">
              <a:solidFill>
                <a:srgbClr val="0070C0"/>
              </a:solidFill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12" name="Imagen 11" descr="fondo 2727.ai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773" y="5472461"/>
            <a:ext cx="1650896" cy="147763"/>
          </a:xfrm>
          <a:prstGeom prst="rect">
            <a:avLst/>
          </a:prstGeom>
          <a:solidFill>
            <a:srgbClr val="3366FF"/>
          </a:solidFill>
        </p:spPr>
      </p:pic>
    </p:spTree>
    <p:extLst>
      <p:ext uri="{BB962C8B-B14F-4D97-AF65-F5344CB8AC3E}">
        <p14:creationId xmlns:p14="http://schemas.microsoft.com/office/powerpoint/2010/main" val="8645628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2" r:id="rId3"/>
    <p:sldLayoutId id="2147483658" r:id="rId4"/>
    <p:sldLayoutId id="2147483654" r:id="rId5"/>
    <p:sldLayoutId id="2147483659" r:id="rId6"/>
    <p:sldLayoutId id="2147483655" r:id="rId7"/>
  </p:sldLayoutIdLst>
  <p:txStyles>
    <p:titleStyle>
      <a:lvl1pPr algn="l" defTabSz="457200" rtl="0" eaLnBrk="1" latinLnBrk="0" hangingPunct="1">
        <a:spcBef>
          <a:spcPct val="0"/>
        </a:spcBef>
        <a:buNone/>
        <a:defRPr sz="3200" b="1" kern="1200">
          <a:solidFill>
            <a:schemeClr val="bg1"/>
          </a:solidFill>
          <a:latin typeface="Arial"/>
          <a:ea typeface="+mj-ea"/>
          <a:cs typeface="Arial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800" b="0" kern="1200">
          <a:solidFill>
            <a:schemeClr val="tx1"/>
          </a:solidFill>
          <a:latin typeface="Arial"/>
          <a:ea typeface="+mn-ea"/>
          <a:cs typeface="Arial"/>
        </a:defRPr>
      </a:lvl1pPr>
      <a:lvl2pPr marL="365125" indent="0" algn="l" defTabSz="457200" rtl="0" eaLnBrk="1" latinLnBrk="0" hangingPunct="1">
        <a:spcBef>
          <a:spcPct val="20000"/>
        </a:spcBef>
        <a:buFontTx/>
        <a:buNone/>
        <a:defRPr sz="2800" kern="1200">
          <a:solidFill>
            <a:schemeClr val="tx1"/>
          </a:solidFill>
          <a:latin typeface="Arial"/>
          <a:ea typeface="+mn-ea"/>
          <a:cs typeface="Arial"/>
        </a:defRPr>
      </a:lvl2pPr>
      <a:lvl3pPr marL="630238" indent="-2413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Arial"/>
          <a:ea typeface="+mn-ea"/>
          <a:cs typeface="Arial"/>
        </a:defRPr>
      </a:lvl3pPr>
      <a:lvl4pPr marL="982663" indent="-268288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Arial"/>
          <a:ea typeface="+mn-ea"/>
          <a:cs typeface="Arial"/>
        </a:defRPr>
      </a:lvl4pPr>
      <a:lvl5pPr marL="982662" indent="0" algn="l" defTabSz="457200" rtl="0" eaLnBrk="1" latinLnBrk="0" hangingPunct="1">
        <a:spcBef>
          <a:spcPct val="20000"/>
        </a:spcBef>
        <a:buFontTx/>
        <a:buNone/>
        <a:defRPr sz="2000" kern="1200">
          <a:solidFill>
            <a:schemeClr val="tx1"/>
          </a:solidFill>
          <a:latin typeface="Arial"/>
          <a:ea typeface="+mn-ea"/>
          <a:cs typeface="Arial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 descr="fondo 2727.ai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8742" y="0"/>
            <a:ext cx="8985258" cy="1119105"/>
          </a:xfrm>
          <a:prstGeom prst="rect">
            <a:avLst/>
          </a:prstGeom>
        </p:spPr>
      </p:pic>
      <p:sp>
        <p:nvSpPr>
          <p:cNvPr id="7" name="Rectángulo 6"/>
          <p:cNvSpPr/>
          <p:nvPr/>
        </p:nvSpPr>
        <p:spPr>
          <a:xfrm>
            <a:off x="0" y="166605"/>
            <a:ext cx="158742" cy="952500"/>
          </a:xfrm>
          <a:prstGeom prst="rect">
            <a:avLst/>
          </a:prstGeom>
          <a:solidFill>
            <a:srgbClr val="FFE2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Rectángulo 12"/>
          <p:cNvSpPr/>
          <p:nvPr/>
        </p:nvSpPr>
        <p:spPr>
          <a:xfrm>
            <a:off x="169334" y="1119105"/>
            <a:ext cx="8974667" cy="2650873"/>
          </a:xfrm>
          <a:prstGeom prst="rect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4" name="Título 1"/>
          <p:cNvSpPr txBox="1">
            <a:spLocks/>
          </p:cNvSpPr>
          <p:nvPr/>
        </p:nvSpPr>
        <p:spPr>
          <a:xfrm>
            <a:off x="1460665" y="1690813"/>
            <a:ext cx="7096836" cy="547398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/>
            <a:r>
              <a:rPr lang="es-ES_tradnl" sz="3200" b="1" i="0" dirty="0" smtClean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Clic para editar nombre </a:t>
            </a:r>
            <a:r>
              <a:rPr lang="es-ES_tradnl" sz="3200" b="1" i="0" smtClean="0">
                <a:solidFill>
                  <a:schemeClr val="bg1"/>
                </a:solidFill>
                <a:latin typeface="Arial" charset="0"/>
                <a:ea typeface="Arial" charset="0"/>
                <a:cs typeface="Arial" charset="0"/>
              </a:rPr>
              <a:t>de capítulo</a:t>
            </a:r>
            <a:endParaRPr lang="es-ES" sz="3200" b="1" i="0" dirty="0">
              <a:solidFill>
                <a:schemeClr val="bg1"/>
              </a:solidFill>
              <a:latin typeface="Arial" charset="0"/>
              <a:ea typeface="Arial" charset="0"/>
              <a:cs typeface="Arial" charset="0"/>
            </a:endParaRPr>
          </a:p>
        </p:txBody>
      </p:sp>
      <p:sp>
        <p:nvSpPr>
          <p:cNvPr id="12" name="Rectángulo 11"/>
          <p:cNvSpPr/>
          <p:nvPr/>
        </p:nvSpPr>
        <p:spPr>
          <a:xfrm flipV="1">
            <a:off x="169335" y="5472467"/>
            <a:ext cx="8815911" cy="147759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 smtClean="0"/>
              <a:t> </a:t>
            </a:r>
            <a:endParaRPr lang="es-ES" dirty="0"/>
          </a:p>
        </p:txBody>
      </p:sp>
      <p:sp>
        <p:nvSpPr>
          <p:cNvPr id="15" name="CuadroTexto 14"/>
          <p:cNvSpPr txBox="1"/>
          <p:nvPr/>
        </p:nvSpPr>
        <p:spPr>
          <a:xfrm>
            <a:off x="6388926" y="5064622"/>
            <a:ext cx="2044384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s-ES" sz="2100" b="0" i="0" dirty="0" smtClean="0">
                <a:solidFill>
                  <a:srgbClr val="0070C0"/>
                </a:solidFill>
                <a:latin typeface="Arial" charset="0"/>
                <a:ea typeface="Arial" charset="0"/>
                <a:cs typeface="Arial" charset="0"/>
              </a:rPr>
              <a:t>me</a:t>
            </a:r>
            <a:r>
              <a:rPr lang="es-ES_tradnl" sz="2100" b="0" i="0" dirty="0" err="1" smtClean="0">
                <a:solidFill>
                  <a:srgbClr val="0070C0"/>
                </a:solidFill>
                <a:latin typeface="Arial" charset="0"/>
                <a:ea typeface="Arial" charset="0"/>
                <a:cs typeface="Arial" charset="0"/>
              </a:rPr>
              <a:t>dicina.uc.cl</a:t>
            </a:r>
            <a:endParaRPr lang="es-ES" sz="2100" b="0" i="0" dirty="0">
              <a:solidFill>
                <a:srgbClr val="0070C0"/>
              </a:solidFill>
              <a:latin typeface="Arial" charset="0"/>
              <a:ea typeface="Arial" charset="0"/>
              <a:cs typeface="Arial" charset="0"/>
            </a:endParaRPr>
          </a:p>
        </p:txBody>
      </p:sp>
      <p:pic>
        <p:nvPicPr>
          <p:cNvPr id="16" name="Imagen 15" descr="fondo 2727.ai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80773" y="5472461"/>
            <a:ext cx="1650896" cy="147763"/>
          </a:xfrm>
          <a:prstGeom prst="rect">
            <a:avLst/>
          </a:prstGeom>
          <a:solidFill>
            <a:srgbClr val="3366FF"/>
          </a:solidFill>
        </p:spPr>
      </p:pic>
    </p:spTree>
    <p:extLst>
      <p:ext uri="{BB962C8B-B14F-4D97-AF65-F5344CB8AC3E}">
        <p14:creationId xmlns:p14="http://schemas.microsoft.com/office/powerpoint/2010/main" val="11295664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28175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0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n 3" descr="UC-color-TR-01.png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8852" y="1129477"/>
            <a:ext cx="5210746" cy="3225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49043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9160060"/>
      </p:ext>
    </p:extLst>
  </p:cSld>
  <p:clrMapOvr>
    <a:masterClrMapping/>
  </p:clrMapOvr>
  <p:timing>
    <p:tnLst>
      <p:par>
        <p:cTn xmlns:p14="http://schemas.microsoft.com/office/powerpoint/2010/main"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89442968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Marcador de contenido 3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73466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gráfico 2"/>
          <p:cNvSpPr>
            <a:spLocks noGrp="1"/>
          </p:cNvSpPr>
          <p:nvPr>
            <p:ph type="chart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2707447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conteni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95999730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555381"/>
      </p:ext>
    </p:extLst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000">
                <a:latin typeface="Calibri"/>
              </a:defRPr>
            </a:pPr>
            <a:r>
              <a:t>Doble Antiagregación Plaquetaria en ACV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2600">
                <a:latin typeface="Calibri"/>
              </a:defRPr>
            </a:pPr>
            <a:r>
              <a:t>Uso Agudo vs. Crónico y Escenarios Emergentes</a:t>
            </a:r>
          </a:p>
          <a:p>
            <a:pPr>
              <a:defRPr sz="2600">
                <a:latin typeface="Calibri"/>
              </a:defRPr>
            </a:pPr>
            <a:r>
              <a:t>Dr. Cristian Ugalde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latin typeface="Calibri"/>
              </a:defRPr>
            </a:pPr>
            <a:r>
              <a:t>Fase Aguda: Ventana de Oportunidad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>
              <a:defRPr sz="2000">
                <a:latin typeface="Calibri"/>
              </a:defRPr>
            </a:pPr>
            <a:r>
              <a:t>Indicación principal: ACV menor y AIT alto riesgo.</a:t>
            </a:r>
          </a:p>
          <a:p>
            <a:pPr>
              <a:defRPr sz="2000">
                <a:latin typeface="Calibri"/>
              </a:defRPr>
            </a:pPr>
            <a:r>
              <a:t>Terapia Estándar: Aspirina + Clopidogrel por 21 días (CHANCE, POINT).</a:t>
            </a:r>
          </a:p>
          <a:p>
            <a:pPr>
              <a:defRPr sz="2000">
                <a:latin typeface="Calibri"/>
              </a:defRPr>
            </a:pPr>
            <a:r>
              <a:t>Terapia Alternativa: Aspirina + Ticagrelor por 30 días (THALES).</a:t>
            </a:r>
          </a:p>
          <a:p>
            <a:pPr>
              <a:defRPr sz="2000">
                <a:latin typeface="Calibri"/>
              </a:defRPr>
            </a:pPr>
            <a:r>
              <a:t>Beneficio neto: Prevención temprana.</a:t>
            </a:r>
          </a:p>
        </p:txBody>
      </p:sp>
      <p:pic>
        <p:nvPicPr>
          <p:cNvPr id="5" name="Picture 4" descr="point_fig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333500"/>
            <a:ext cx="4038600" cy="31968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latin typeface="Calibri"/>
              </a:defRPr>
            </a:pPr>
            <a:r>
              <a:t>Ref: Johnston SC, et al. N Engl J Med 2018. | Dr. Cristian Ugalde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latin typeface="Calibri"/>
              </a:defRPr>
            </a:pPr>
            <a:r>
              <a:t>Fase Crónica: El Peligro de Prolongar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>
              <a:defRPr sz="2000">
                <a:latin typeface="Calibri"/>
              </a:defRPr>
            </a:pPr>
            <a:r>
              <a:t>Contraindicación: Guías recomiendan FUERTEMENTE en contra de DAPT a largo plazo.</a:t>
            </a:r>
          </a:p>
          <a:p>
            <a:pPr>
              <a:defRPr sz="2000">
                <a:latin typeface="Calibri"/>
              </a:defRPr>
            </a:pPr>
            <a:r>
              <a:t>Ensayo MATCH: 157% aumento de hemorragias vitales sin reducir isquemia.</a:t>
            </a:r>
          </a:p>
          <a:p>
            <a:pPr>
              <a:defRPr sz="2000">
                <a:latin typeface="Calibri"/>
              </a:defRPr>
            </a:pPr>
            <a:r>
              <a:t>Ensayo SPS3: Aumento drástico de mortalidad en infartos lacunares.</a:t>
            </a:r>
          </a:p>
          <a:p>
            <a:pPr>
              <a:defRPr sz="2000">
                <a:latin typeface="Calibri"/>
              </a:defRPr>
            </a:pPr>
            <a:r>
              <a:t>Regla: Programar fecha de transición a monoterapia.</a:t>
            </a:r>
          </a:p>
        </p:txBody>
      </p:sp>
      <p:pic>
        <p:nvPicPr>
          <p:cNvPr id="5" name="Picture 4" descr="match_sche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8200" y="1333500"/>
            <a:ext cx="4038600" cy="2692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53035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latin typeface="Calibri"/>
              </a:defRPr>
            </a:pPr>
            <a:r>
              <a:t>Ref: Diener HC, et al. Lancet 2004 (MATCH). | Dr. Cristian Ugalde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latin typeface="Calibri"/>
              </a:defRPr>
            </a:pPr>
            <a:r>
              <a:t>Conclusiones Clínicas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latin typeface="Calibri"/>
              </a:defRPr>
            </a:pPr>
            <a:r>
              <a:t>DAPT es una terapia de choque precoz (primeros 21-30 días), no de mantenimiento.</a:t>
            </a:r>
          </a:p>
          <a:p>
            <a:pPr>
              <a:defRPr sz="2000">
                <a:latin typeface="Calibri"/>
              </a:defRPr>
            </a:pPr>
            <a:r>
              <a:t>Beneficio neto claro en fase aguda temprana para estabilizar la placa.</a:t>
            </a:r>
          </a:p>
          <a:p>
            <a:pPr>
              <a:defRPr sz="2000">
                <a:latin typeface="Calibri"/>
              </a:defRPr>
            </a:pPr>
            <a:r>
              <a:t>Daño neto inaceptable (Hemorragia &gt; Isquemia) en fase crónica rutinaria.</a:t>
            </a:r>
          </a:p>
          <a:p>
            <a:pPr>
              <a:defRPr sz="2000">
                <a:latin typeface="Calibri"/>
              </a:defRPr>
            </a:pPr>
            <a:r>
              <a:t>Excepciones: sICAS (90 días) o Stent Coronario (6-12 meses según cardio).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latin typeface="Calibri"/>
              </a:defRPr>
            </a:pPr>
            <a:r>
              <a:t>Resumen Clínico 2026 | Dr. Cristian Ugalde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000">
                <a:latin typeface="Calibri"/>
              </a:defRPr>
            </a:pPr>
            <a:r>
              <a:t>Bibliografía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>
                <a:latin typeface="Calibri"/>
              </a:defRPr>
            </a:pPr>
            <a:r>
              <a:t>1. Kleindorfer DO, et al. 2021 Guideline for the Prevention of Stroke (AHA/ASA). Stroke. 2021.</a:t>
            </a:r>
          </a:p>
          <a:p>
            <a:pPr>
              <a:defRPr sz="2000">
                <a:latin typeface="Calibri"/>
              </a:defRPr>
            </a:pPr>
            <a:r>
              <a:t>2. Diener HC, et al. Aspirin and clopidogrel compared with clopidogrel alone after recent ischaemic stroke or transient ischaemic attack in high-risk patients (MATCH)... Lancet. 2004;364(9431):331-337.</a:t>
            </a:r>
          </a:p>
          <a:p>
            <a:pPr>
              <a:defRPr sz="2000">
                <a:latin typeface="Calibri"/>
              </a:defRPr>
            </a:pPr>
            <a:r>
              <a:t>3. Johnston SC, et al. Clopidogrel and Aspirin in Acute Ischemic Stroke and High-Risk TIA (POINT). N Engl J Med. 2018;379(3):215-225.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3035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000">
                <a:latin typeface="Calibri"/>
              </a:defRPr>
            </a:pPr>
            <a:r>
              <a:t>Dr. Cristian Ugalde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PT FM 90AÑO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PPT FM 90AÑOS" id="{3D845E86-9C6A-0549-A3CE-D0F754A7CABE}" vid="{E2813782-16D1-8C44-800A-1FBAD7083ABB}"/>
    </a:ext>
  </a:extLst>
</a:theme>
</file>

<file path=ppt/theme/theme2.xml><?xml version="1.0" encoding="utf-8"?>
<a:theme xmlns:a="http://schemas.openxmlformats.org/drawingml/2006/main" name="Capítulo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PPT FM 90AÑOS" id="{3D845E86-9C6A-0549-A3CE-D0F754A7CABE}" vid="{E20D0A4A-EFDB-AE45-B340-07D876503796}"/>
    </a:ext>
  </a:extLst>
</a:theme>
</file>

<file path=ppt/theme/theme3.xml><?xml version="1.0" encoding="utf-8"?>
<a:theme xmlns:a="http://schemas.openxmlformats.org/drawingml/2006/main" name="Hoja Blanc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PPT FM 90AÑOS" id="{3D845E86-9C6A-0549-A3CE-D0F754A7CABE}" vid="{D4F6500B-5608-4A45-A522-F6045FC731D6}"/>
    </a:ext>
  </a:extLst>
</a:theme>
</file>

<file path=ppt/theme/theme4.xml><?xml version="1.0" encoding="utf-8"?>
<a:theme xmlns:a="http://schemas.openxmlformats.org/drawingml/2006/main" name="Diseño personalizado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xmlns="" name="PPT FM 90AÑOS" id="{3D845E86-9C6A-0549-A3CE-D0F754A7CABE}" vid="{CF1779F5-055F-9D44-A040-FD54422D57F8}"/>
    </a:ext>
  </a:extLst>
</a:theme>
</file>

<file path=ppt/theme/theme5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PPT FM 90AÑOS.potx</Template>
  <TotalTime>328</TotalTime>
  <Words>0</Words>
  <Application>Microsoft Macintosh PowerPoint</Application>
  <PresentationFormat>Presentación en pantalla (16:10)</PresentationFormat>
  <Paragraphs>0</Paragraphs>
  <Slides>6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4</vt:i4>
      </vt:variant>
      <vt:variant>
        <vt:lpstr>Títulos de diapositiva</vt:lpstr>
      </vt:variant>
      <vt:variant>
        <vt:i4>6</vt:i4>
      </vt:variant>
    </vt:vector>
  </HeadingPairs>
  <TitlesOfParts>
    <vt:vector size="10" baseType="lpstr">
      <vt:lpstr>PPT FM 90AÑOS</vt:lpstr>
      <vt:lpstr>Capítulo</vt:lpstr>
      <vt:lpstr>Hoja Blanca</vt:lpstr>
      <vt:lpstr>Diseño personalizado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XX</dc:creator>
  <cp:lastModifiedBy>SOLEDAD</cp:lastModifiedBy>
  <cp:revision>42</cp:revision>
  <cp:lastPrinted>2014-03-20T19:58:25Z</cp:lastPrinted>
  <dcterms:created xsi:type="dcterms:W3CDTF">2013-12-19T15:07:33Z</dcterms:created>
  <dcterms:modified xsi:type="dcterms:W3CDTF">2019-02-05T13:05:56Z</dcterms:modified>
</cp:coreProperties>
</file>