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1" r:id="rId2"/>
    <p:sldMasterId id="2147483664" r:id="rId3"/>
    <p:sldMasterId id="2147483660" r:id="rId4"/>
  </p:sldMasterIdLst>
  <p:handoutMasterIdLst>
    <p:handoutMasterId r:id="rId11"/>
  </p:handoutMasterIdLst>
  <p:sldIdLst>
    <p:sldId id="259" r:id="rId5"/>
    <p:sldId id="263" r:id="rId6"/>
    <p:sldId id="264" r:id="rId7"/>
    <p:sldId id="265" r:id="rId8"/>
    <p:sldId id="262" r:id="rId9"/>
    <p:sldId id="260" r:id="rId10"/>
    <p:sldId id="266" r:id="rId17"/>
    <p:sldId id="267" r:id="rId18"/>
    <p:sldId id="268" r:id="rId19"/>
    <p:sldId id="269" r:id="rId20"/>
    <p:sldId id="270" r:id="rId21"/>
  </p:sldIdLst>
  <p:sldSz cx="9144000" cy="5715000" type="screen16x10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555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FE200"/>
    <a:srgbClr val="FFF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/>
    <p:restoredTop sz="93209"/>
  </p:normalViewPr>
  <p:slideViewPr>
    <p:cSldViewPr snapToGrid="0" snapToObjects="1" showGuides="1">
      <p:cViewPr>
        <p:scale>
          <a:sx n="126" d="100"/>
          <a:sy n="126" d="100"/>
        </p:scale>
        <p:origin x="-640" y="-512"/>
      </p:cViewPr>
      <p:guideLst>
        <p:guide orient="horz" pos="2963"/>
        <p:guide pos="28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handoutMaster" Target="handoutMasters/handout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A3055-A04C-8244-B61D-89076C9654A8}" type="datetimeFigureOut">
              <a:rPr lang="es-ES" smtClean="0"/>
              <a:t>05-02-19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611A0-C513-7D40-8F4F-33BCA4CF8B7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888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4243" y="2253211"/>
            <a:ext cx="7197430" cy="986743"/>
          </a:xfrm>
        </p:spPr>
        <p:txBody>
          <a:bodyPr anchor="t">
            <a:normAutofit/>
          </a:bodyPr>
          <a:lstStyle>
            <a:lvl1pPr algn="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094243" y="3250331"/>
            <a:ext cx="7197430" cy="893298"/>
          </a:xfrm>
        </p:spPr>
        <p:txBody>
          <a:bodyPr>
            <a:normAutofit/>
          </a:bodyPr>
          <a:lstStyle>
            <a:lvl1pPr marL="0" indent="0" algn="r">
              <a:lnSpc>
                <a:spcPct val="90000"/>
              </a:lnSpc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 smtClean="0"/>
              <a:t>Haga clic para modificar el estilo </a:t>
            </a:r>
            <a:br>
              <a:rPr lang="es-ES_tradnl" dirty="0" smtClean="0"/>
            </a:br>
            <a:r>
              <a:rPr lang="es-ES_tradnl" dirty="0" smtClean="0"/>
              <a:t>de subtítulo del patrón</a:t>
            </a:r>
            <a:endParaRPr lang="es-ES" dirty="0"/>
          </a:p>
        </p:txBody>
      </p:sp>
      <p:pic>
        <p:nvPicPr>
          <p:cNvPr id="6" name="Imagen 5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617" y="1"/>
            <a:ext cx="4714384" cy="1247917"/>
          </a:xfrm>
          <a:prstGeom prst="rect">
            <a:avLst/>
          </a:prstGeom>
          <a:solidFill>
            <a:srgbClr val="3366FF"/>
          </a:solidFill>
        </p:spPr>
      </p:pic>
      <p:sp>
        <p:nvSpPr>
          <p:cNvPr id="9" name="Rectángulo 8"/>
          <p:cNvSpPr/>
          <p:nvPr userDrawn="1"/>
        </p:nvSpPr>
        <p:spPr>
          <a:xfrm flipV="1">
            <a:off x="-1" y="-4"/>
            <a:ext cx="177417" cy="1247918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/>
          <p:cNvSpPr/>
          <p:nvPr userDrawn="1"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pic>
        <p:nvPicPr>
          <p:cNvPr id="7" name="Imagen 6" descr="Fac. Medicina2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7" y="82365"/>
            <a:ext cx="3456018" cy="1165553"/>
          </a:xfrm>
          <a:prstGeom prst="rect">
            <a:avLst/>
          </a:prstGeom>
        </p:spPr>
      </p:pic>
      <p:pic>
        <p:nvPicPr>
          <p:cNvPr id="11" name="Imagen 10" descr="90A-FM-HOR4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100" y="4969127"/>
            <a:ext cx="1183252" cy="66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9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sarrollo de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423708"/>
          </a:xfrm>
        </p:spPr>
        <p:txBody>
          <a:bodyPr/>
          <a:lstStyle>
            <a:lvl1pPr>
              <a:defRPr sz="2600"/>
            </a:lvl1pPr>
            <a:lvl2pPr>
              <a:defRPr sz="2600"/>
            </a:lvl2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644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430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430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062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on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7" name="Marcador de gráfico 6"/>
          <p:cNvSpPr>
            <a:spLocks noGrp="1"/>
          </p:cNvSpPr>
          <p:nvPr>
            <p:ph type="chart" sz="quarter" idx="13"/>
          </p:nvPr>
        </p:nvSpPr>
        <p:spPr>
          <a:xfrm>
            <a:off x="457200" y="1463123"/>
            <a:ext cx="8229600" cy="3300701"/>
          </a:xfrm>
        </p:spPr>
        <p:txBody>
          <a:bodyPr/>
          <a:lstStyle/>
          <a:p>
            <a:r>
              <a:rPr lang="es-ES_tradnl" smtClean="0"/>
              <a:t>Haga clic en el icono para agregar un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82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6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7200" y="1348978"/>
            <a:ext cx="8229600" cy="298850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smtClean="0"/>
              <a:t>Arrastre la imagen al marcador de posición o haga clic en el icono para agregar</a:t>
            </a:r>
            <a:endParaRPr lang="es-ES" dirty="0"/>
          </a:p>
        </p:txBody>
      </p:sp>
      <p:sp>
        <p:nvSpPr>
          <p:cNvPr id="7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4472782"/>
            <a:ext cx="8229600" cy="2910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8450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24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648"/>
            <a:ext cx="9144000" cy="388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41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4712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Relationship Id="rId3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ndo 2727.ai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119105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16660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423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r>
              <a:rPr lang="es-ES_tradnl" dirty="0" smtClean="0"/>
              <a:t>Segundo nivel</a:t>
            </a:r>
          </a:p>
          <a:p>
            <a:pPr lvl="2"/>
            <a:r>
              <a:rPr lang="es-ES_tradnl" dirty="0" smtClean="0"/>
              <a:t>Tercer nivel</a:t>
            </a:r>
          </a:p>
          <a:p>
            <a:pPr lvl="3"/>
            <a:r>
              <a:rPr lang="es-ES_tradnl" dirty="0" smtClean="0"/>
              <a:t>Cuarto nivel</a:t>
            </a:r>
          </a:p>
          <a:p>
            <a:pPr lvl="4"/>
            <a:r>
              <a:rPr lang="es-ES_tradnl" dirty="0" smtClean="0"/>
              <a:t>Quinto nivel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0" y="166605"/>
            <a:ext cx="158742" cy="95250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/>
          <p:cNvSpPr/>
          <p:nvPr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6388926" y="5064622"/>
            <a:ext cx="2044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100" b="0" i="0" dirty="0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me</a:t>
            </a:r>
            <a:r>
              <a:rPr lang="es-ES_tradnl" sz="2100" b="0" i="0" dirty="0" err="1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dicina.uc.cl</a:t>
            </a:r>
            <a:endParaRPr lang="es-ES" sz="2100" b="0" i="0" dirty="0">
              <a:solidFill>
                <a:srgbClr val="0070C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2" name="Imagen 11" descr="fondo 2727.ai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73" y="5472461"/>
            <a:ext cx="1650896" cy="147763"/>
          </a:xfrm>
          <a:prstGeom prst="rect">
            <a:avLst/>
          </a:prstGeom>
          <a:solidFill>
            <a:srgbClr val="3366FF"/>
          </a:solidFill>
        </p:spPr>
      </p:pic>
    </p:spTree>
    <p:extLst>
      <p:ext uri="{BB962C8B-B14F-4D97-AF65-F5344CB8AC3E}">
        <p14:creationId xmlns:p14="http://schemas.microsoft.com/office/powerpoint/2010/main" val="86456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8" r:id="rId4"/>
    <p:sldLayoutId id="2147483654" r:id="rId5"/>
    <p:sldLayoutId id="2147483659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kern="1200">
          <a:solidFill>
            <a:schemeClr val="tx1"/>
          </a:solidFill>
          <a:latin typeface="Arial"/>
          <a:ea typeface="+mn-ea"/>
          <a:cs typeface="Arial"/>
        </a:defRPr>
      </a:lvl1pPr>
      <a:lvl2pPr marL="365125" indent="0" algn="l" defTabSz="457200" rtl="0" eaLnBrk="1" latinLnBrk="0" hangingPunct="1">
        <a:spcBef>
          <a:spcPct val="20000"/>
        </a:spcBef>
        <a:buFontTx/>
        <a:buNone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630238" indent="-2413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982663" indent="-268288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982662" indent="0" algn="l" defTabSz="4572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fondo 2727.ai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119105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0" y="166605"/>
            <a:ext cx="158742" cy="95250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/>
          <p:cNvSpPr/>
          <p:nvPr/>
        </p:nvSpPr>
        <p:spPr>
          <a:xfrm>
            <a:off x="169334" y="1119105"/>
            <a:ext cx="8974667" cy="26508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1460665" y="1690813"/>
            <a:ext cx="7096836" cy="5473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_tradnl" sz="3200" b="1" i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Clic para editar nombre </a:t>
            </a:r>
            <a:r>
              <a:rPr lang="es-ES_tradnl" sz="3200" b="1" i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de capítulo</a:t>
            </a:r>
            <a:endParaRPr lang="es-ES" sz="3200" b="1" i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Rectángulo 11"/>
          <p:cNvSpPr/>
          <p:nvPr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6388926" y="5064622"/>
            <a:ext cx="2044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100" b="0" i="0" dirty="0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me</a:t>
            </a:r>
            <a:r>
              <a:rPr lang="es-ES_tradnl" sz="2100" b="0" i="0" dirty="0" err="1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dicina.uc.cl</a:t>
            </a:r>
            <a:endParaRPr lang="es-ES" sz="2100" b="0" i="0" dirty="0">
              <a:solidFill>
                <a:srgbClr val="0070C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Imagen 15" descr="fondo 2727.ai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73" y="5472461"/>
            <a:ext cx="1650896" cy="147763"/>
          </a:xfrm>
          <a:prstGeom prst="rect">
            <a:avLst/>
          </a:prstGeom>
          <a:solidFill>
            <a:srgbClr val="3366FF"/>
          </a:solidFill>
        </p:spPr>
      </p:pic>
    </p:spTree>
    <p:extLst>
      <p:ext uri="{BB962C8B-B14F-4D97-AF65-F5344CB8AC3E}">
        <p14:creationId xmlns:p14="http://schemas.microsoft.com/office/powerpoint/2010/main" val="11295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17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C-color-TR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852" y="1129477"/>
            <a:ext cx="5210746" cy="322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0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1600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442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346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gráfico 2"/>
          <p:cNvSpPr>
            <a:spLocks noGrp="1"/>
          </p:cNvSpPr>
          <p:nvPr>
            <p:ph type="chart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7074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999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55381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latin typeface="Arial"/>
              </a:defRPr>
            </a:pPr>
            <a:r>
              <a:t>Doble Antiagregación Plaquetaria en ACV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>
                <a:latin typeface="Arial"/>
              </a:defRPr>
            </a:pPr>
            <a:r>
              <a:t>Uso Agudo vs. Crónico y Escenarios Emergentes</a:t>
            </a:r>
          </a:p>
          <a:p>
            <a:pPr>
              <a:defRPr sz="3200">
                <a:latin typeface="Arial"/>
              </a:defRPr>
            </a:pPr>
            <a:r>
              <a:t>Dr. Cristian Ugalde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Arial"/>
              </a:defRPr>
            </a:pPr>
            <a:r>
              <a:t>Fase Aguda: Ventana de Oportunidad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Indicación principal: ACV menor y AIT alto riesgo.</a:t>
            </a:r>
          </a:p>
          <a:p>
            <a:pPr>
              <a:defRPr sz="2400">
                <a:latin typeface="Arial"/>
              </a:defRPr>
            </a:pPr>
            <a:r>
              <a:t>Terapia Estándar: Aspirina + Clopidogrel por 21 días (CHANCE, POINT).</a:t>
            </a:r>
          </a:p>
          <a:p>
            <a:pPr>
              <a:defRPr sz="2400">
                <a:latin typeface="Arial"/>
              </a:defRPr>
            </a:pPr>
            <a:r>
              <a:t>Terapia Alternativa: Aspirina + Ticagrelor por 30 días (THALES).</a:t>
            </a:r>
          </a:p>
          <a:p>
            <a:pPr>
              <a:defRPr sz="2400">
                <a:latin typeface="Arial"/>
              </a:defRPr>
            </a:pPr>
            <a:r>
              <a:t>Beneficio neto: Prevención temprana.</a:t>
            </a:r>
          </a:p>
        </p:txBody>
      </p:sp>
      <p:pic>
        <p:nvPicPr>
          <p:cNvPr id="5" name="Picture 4" descr="point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333500"/>
            <a:ext cx="4038600" cy="31968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Ref: Johnston SC, et al. N Engl J Med 2018. | Dr. Cristian Ugalde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Arial"/>
              </a:defRPr>
            </a:pPr>
            <a:r>
              <a:t>Fase Crónica: El Peligro de Prolongar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Contraindicación: Guías recomiendan FUERTEMENTE en contra de DAPT a largo plazo.</a:t>
            </a:r>
          </a:p>
          <a:p>
            <a:pPr>
              <a:defRPr sz="2400">
                <a:latin typeface="Arial"/>
              </a:defRPr>
            </a:pPr>
            <a:r>
              <a:t>Ensayo MATCH: 157% aumento de hemorragias vitales sin reducir isquemia.</a:t>
            </a:r>
          </a:p>
          <a:p>
            <a:pPr>
              <a:defRPr sz="2400">
                <a:latin typeface="Arial"/>
              </a:defRPr>
            </a:pPr>
            <a:r>
              <a:t>Ensayo SPS3: Aumento drástico de mortalidad en infartos lacunares.</a:t>
            </a:r>
          </a:p>
          <a:p>
            <a:pPr>
              <a:defRPr sz="2400">
                <a:latin typeface="Arial"/>
              </a:defRPr>
            </a:pPr>
            <a:r>
              <a:t>Regla: Programar fecha de transición a monoterapia.</a:t>
            </a:r>
          </a:p>
        </p:txBody>
      </p:sp>
      <p:pic>
        <p:nvPicPr>
          <p:cNvPr id="5" name="Picture 4" descr="match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333500"/>
            <a:ext cx="4038600" cy="269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Ref: Diener HC, et al. Lancet 2004 (MATCH). | Dr. Cristian Ugalde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Arial"/>
              </a:defRPr>
            </a:pPr>
            <a:r>
              <a:t>Conclusiones Clínicas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DAPT es una terapia de choque precoz (primeros 21-30 días), no de mantenimiento.</a:t>
            </a:r>
          </a:p>
          <a:p>
            <a:pPr>
              <a:defRPr sz="2400">
                <a:latin typeface="Arial"/>
              </a:defRPr>
            </a:pPr>
            <a:r>
              <a:t>Beneficio neto claro en fase aguda temprana para estabilizar la placa.</a:t>
            </a:r>
          </a:p>
          <a:p>
            <a:pPr>
              <a:defRPr sz="2400">
                <a:latin typeface="Arial"/>
              </a:defRPr>
            </a:pPr>
            <a:r>
              <a:t>Daño neto inaceptable (Hemorragia &gt; Isquemia) en fase crónica rutinaria.</a:t>
            </a:r>
          </a:p>
          <a:p>
            <a:pPr>
              <a:defRPr sz="2400">
                <a:latin typeface="Arial"/>
              </a:defRPr>
            </a:pPr>
            <a:r>
              <a:t>Excepciones: sICAS (90 días) o Stent Coronario (6-12 meses según cardio).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Resumen Clínico 2026 | Dr. Cristian Ugalde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latin typeface="Arial"/>
              </a:defRPr>
            </a:pPr>
            <a:r>
              <a:t>Bibliografía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latin typeface="Arial"/>
              </a:defRPr>
            </a:pPr>
            <a:r>
              <a:t>1. Kleindorfer DO, et al. 2021 Guideline for the Prevention of Stroke (AHA/ASA). Stroke. 2021.</a:t>
            </a:r>
          </a:p>
          <a:p>
            <a:pPr>
              <a:defRPr sz="2400">
                <a:latin typeface="Arial"/>
              </a:defRPr>
            </a:pPr>
            <a:r>
              <a:t>2. Diener HC, et al. Aspirin and clopidogrel compared with clopidogrel alone after recent ischaemic stroke or transient ischaemic attack in high-risk patients (MATCH)... Lancet. 2004;364(9431):331-337.</a:t>
            </a:r>
          </a:p>
          <a:p>
            <a:pPr>
              <a:defRPr sz="2400">
                <a:latin typeface="Arial"/>
              </a:defRPr>
            </a:pPr>
            <a:r>
              <a:t>3. Johnston SC, et al. Clopidogrel and Aspirin in Acute Ischemic Stroke and High-Risk TIA (POINT). N Engl J Med. 2018;379(3):215-225.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Dr. Cristian Ugalde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FM 90AÑO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PT FM 90AÑOS" id="{3D845E86-9C6A-0549-A3CE-D0F754A7CABE}" vid="{E2813782-16D1-8C44-800A-1FBAD7083ABB}"/>
    </a:ext>
  </a:extLst>
</a:theme>
</file>

<file path=ppt/theme/theme2.xml><?xml version="1.0" encoding="utf-8"?>
<a:theme xmlns:a="http://schemas.openxmlformats.org/drawingml/2006/main" name="Capítul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PT FM 90AÑOS" id="{3D845E86-9C6A-0549-A3CE-D0F754A7CABE}" vid="{E20D0A4A-EFDB-AE45-B340-07D876503796}"/>
    </a:ext>
  </a:extLst>
</a:theme>
</file>

<file path=ppt/theme/theme3.xml><?xml version="1.0" encoding="utf-8"?>
<a:theme xmlns:a="http://schemas.openxmlformats.org/drawingml/2006/main" name="Hoja Blanc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PT FM 90AÑOS" id="{3D845E86-9C6A-0549-A3CE-D0F754A7CABE}" vid="{D4F6500B-5608-4A45-A522-F6045FC731D6}"/>
    </a:ext>
  </a:extLst>
</a:theme>
</file>

<file path=ppt/theme/theme4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PT FM 90AÑOS" id="{3D845E86-9C6A-0549-A3CE-D0F754A7CABE}" vid="{CF1779F5-055F-9D44-A040-FD54422D57F8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FM 90AÑOS.potx</Template>
  <TotalTime>328</TotalTime>
  <Words>0</Words>
  <Application>Microsoft Macintosh PowerPoint</Application>
  <PresentationFormat>Presentación en pantalla (16:10)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PPT FM 90AÑOS</vt:lpstr>
      <vt:lpstr>Capítulo</vt:lpstr>
      <vt:lpstr>Hoja Blanca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XX</dc:creator>
  <cp:lastModifiedBy>SOLEDAD</cp:lastModifiedBy>
  <cp:revision>42</cp:revision>
  <cp:lastPrinted>2014-03-20T19:58:25Z</cp:lastPrinted>
  <dcterms:created xsi:type="dcterms:W3CDTF">2013-12-19T15:07:33Z</dcterms:created>
  <dcterms:modified xsi:type="dcterms:W3CDTF">2019-02-05T13:05:56Z</dcterms:modified>
</cp:coreProperties>
</file>