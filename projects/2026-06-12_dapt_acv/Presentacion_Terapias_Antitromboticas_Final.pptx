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71" r:id="rId2"/>
    <p:sldMasterId id="2147483664" r:id="rId3"/>
    <p:sldMasterId id="2147483660" r:id="rId4"/>
  </p:sldMasterIdLst>
  <p:handoutMasterIdLst>
    <p:handoutMasterId r:id="rId11"/>
  </p:handoutMasterIdLst>
  <p:sldIdLst>
    <p:sldId id="259" r:id="rId5"/>
    <p:sldId id="263" r:id="rId6"/>
    <p:sldId id="264" r:id="rId7"/>
    <p:sldId id="265" r:id="rId8"/>
    <p:sldId id="262" r:id="rId9"/>
    <p:sldId id="260" r:id="rId10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x="9144000" cy="5715000" type="screen16x10"/>
  <p:notesSz cx="6858000" cy="9144000"/>
  <p:defaultTextStyle>
    <a:defPPr>
      <a:defRPr lang="es-E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3555">
          <p15:clr>
            <a:srgbClr val="A4A3A4"/>
          </p15:clr>
        </p15:guide>
        <p15:guide id="2" pos="2882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handouts2" frameSlides="1"/>
  <p:clrMru>
    <a:srgbClr val="FFE200"/>
    <a:srgbClr val="FFF00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561"/>
    <p:restoredTop sz="93209"/>
  </p:normalViewPr>
  <p:slideViewPr>
    <p:cSldViewPr snapToGrid="0" snapToObjects="1" showGuides="1">
      <p:cViewPr>
        <p:scale>
          <a:sx n="126" d="100"/>
          <a:sy n="126" d="100"/>
        </p:scale>
        <p:origin x="-640" y="-512"/>
      </p:cViewPr>
      <p:guideLst>
        <p:guide orient="horz" pos="2963"/>
        <p:guide pos="2882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handoutMaster" Target="handoutMasters/handout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slide" Target="slides/slide7.xml"/><Relationship Id="rId18" Type="http://schemas.openxmlformats.org/officeDocument/2006/relationships/slide" Target="slides/slide8.xml"/><Relationship Id="rId19" Type="http://schemas.openxmlformats.org/officeDocument/2006/relationships/slide" Target="slides/slide9.xml"/><Relationship Id="rId20" Type="http://schemas.openxmlformats.org/officeDocument/2006/relationships/slide" Target="slides/slide10.xml"/><Relationship Id="rId21" Type="http://schemas.openxmlformats.org/officeDocument/2006/relationships/slide" Target="slides/slide11.xml"/><Relationship Id="rId22" Type="http://schemas.openxmlformats.org/officeDocument/2006/relationships/slide" Target="slides/slide12.xml"/><Relationship Id="rId23" Type="http://schemas.openxmlformats.org/officeDocument/2006/relationships/slide" Target="slides/slide13.xml"/><Relationship Id="rId24" Type="http://schemas.openxmlformats.org/officeDocument/2006/relationships/slide" Target="slides/slide14.xml"/><Relationship Id="rId25" Type="http://schemas.openxmlformats.org/officeDocument/2006/relationships/slide" Target="slides/slide15.xml"/><Relationship Id="rId26" Type="http://schemas.openxmlformats.org/officeDocument/2006/relationships/slide" Target="slides/slide16.xml"/><Relationship Id="rId27" Type="http://schemas.openxmlformats.org/officeDocument/2006/relationships/slide" Target="slides/slide17.xml"/><Relationship Id="rId28" Type="http://schemas.openxmlformats.org/officeDocument/2006/relationships/slide" Target="slides/slide18.xml"/><Relationship Id="rId29" Type="http://schemas.openxmlformats.org/officeDocument/2006/relationships/slide" Target="slides/slide19.xml"/><Relationship Id="rId30" Type="http://schemas.openxmlformats.org/officeDocument/2006/relationships/slide" Target="slides/slide20.xml"/><Relationship Id="rId31" Type="http://schemas.openxmlformats.org/officeDocument/2006/relationships/slide" Target="slides/slide21.xml"/><Relationship Id="rId32" Type="http://schemas.openxmlformats.org/officeDocument/2006/relationships/slide" Target="slides/slide22.xml"/><Relationship Id="rId33" Type="http://schemas.openxmlformats.org/officeDocument/2006/relationships/slide" Target="slides/slide23.xml"/><Relationship Id="rId34" Type="http://schemas.openxmlformats.org/officeDocument/2006/relationships/slide" Target="slides/slide24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3" name="Marcador de fecha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0A3055-A04C-8244-B61D-89076C9654A8}" type="datetimeFigureOut">
              <a:rPr lang="es-ES" smtClean="0"/>
              <a:t>05-02-19</a:t>
            </a:fld>
            <a:endParaRPr lang="es-ES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S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1611A0-C513-7D40-8F4F-33BCA4CF8B70}" type="slidenum">
              <a:rPr lang="es-ES" smtClean="0"/>
              <a:t>‹Nr.›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09388888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Relationship Id="rId3" Type="http://schemas.openxmlformats.org/officeDocument/2006/relationships/image" Target="../media/image2.jpg"/><Relationship Id="rId4" Type="http://schemas.openxmlformats.org/officeDocument/2006/relationships/image" Target="../media/image3.jp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e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094243" y="2253211"/>
            <a:ext cx="7197430" cy="986743"/>
          </a:xfrm>
        </p:spPr>
        <p:txBody>
          <a:bodyPr anchor="t">
            <a:normAutofit/>
          </a:bodyPr>
          <a:lstStyle>
            <a:lvl1pPr algn="r">
              <a:defRPr sz="4400">
                <a:solidFill>
                  <a:schemeClr val="tx1"/>
                </a:solidFill>
              </a:defRPr>
            </a:lvl1pPr>
          </a:lstStyle>
          <a:p>
            <a:r>
              <a:rPr lang="es-ES_tradnl" smtClean="0"/>
              <a:t>Clic para editar título</a:t>
            </a:r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 hasCustomPrompt="1"/>
          </p:nvPr>
        </p:nvSpPr>
        <p:spPr>
          <a:xfrm>
            <a:off x="1094243" y="3250331"/>
            <a:ext cx="7197430" cy="893298"/>
          </a:xfrm>
        </p:spPr>
        <p:txBody>
          <a:bodyPr>
            <a:normAutofit/>
          </a:bodyPr>
          <a:lstStyle>
            <a:lvl1pPr marL="0" indent="0" algn="r">
              <a:lnSpc>
                <a:spcPct val="90000"/>
              </a:lnSpc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_tradnl" dirty="0" smtClean="0"/>
              <a:t>Haga clic para modificar el estilo </a:t>
            </a:r>
            <a:br>
              <a:rPr lang="es-ES_tradnl" dirty="0" smtClean="0"/>
            </a:br>
            <a:r>
              <a:rPr lang="es-ES_tradnl" dirty="0" smtClean="0"/>
              <a:t>de subtítulo del patrón</a:t>
            </a:r>
            <a:endParaRPr lang="es-ES" dirty="0"/>
          </a:p>
        </p:txBody>
      </p:sp>
      <p:pic>
        <p:nvPicPr>
          <p:cNvPr id="6" name="Imagen 5" descr="fondo 2727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29617" y="1"/>
            <a:ext cx="4714384" cy="1247917"/>
          </a:xfrm>
          <a:prstGeom prst="rect">
            <a:avLst/>
          </a:prstGeom>
          <a:solidFill>
            <a:srgbClr val="3366FF"/>
          </a:solidFill>
        </p:spPr>
      </p:pic>
      <p:sp>
        <p:nvSpPr>
          <p:cNvPr id="9" name="Rectángulo 8"/>
          <p:cNvSpPr/>
          <p:nvPr userDrawn="1"/>
        </p:nvSpPr>
        <p:spPr>
          <a:xfrm flipV="1">
            <a:off x="-1" y="-4"/>
            <a:ext cx="177417" cy="1247918"/>
          </a:xfrm>
          <a:prstGeom prst="rect">
            <a:avLst/>
          </a:prstGeom>
          <a:solidFill>
            <a:srgbClr val="FF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0" name="Rectángulo 9"/>
          <p:cNvSpPr/>
          <p:nvPr userDrawn="1"/>
        </p:nvSpPr>
        <p:spPr>
          <a:xfrm flipV="1">
            <a:off x="169335" y="5472467"/>
            <a:ext cx="8815911" cy="1477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 </a:t>
            </a:r>
            <a:endParaRPr lang="es-ES" dirty="0"/>
          </a:p>
        </p:txBody>
      </p:sp>
      <p:pic>
        <p:nvPicPr>
          <p:cNvPr id="7" name="Imagen 6" descr="Fac. Medicina21.jp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507" y="82365"/>
            <a:ext cx="3456018" cy="1165553"/>
          </a:xfrm>
          <a:prstGeom prst="rect">
            <a:avLst/>
          </a:prstGeom>
        </p:spPr>
      </p:pic>
      <p:pic>
        <p:nvPicPr>
          <p:cNvPr id="11" name="Imagen 10" descr="90A-FM-HOR4.jpg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43100" y="4969127"/>
            <a:ext cx="1183252" cy="666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852951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Desarrollo de te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 dirty="0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457200" y="1333500"/>
            <a:ext cx="8229600" cy="3423708"/>
          </a:xfrm>
        </p:spPr>
        <p:txBody>
          <a:bodyPr/>
          <a:lstStyle>
            <a:lvl1pPr>
              <a:defRPr sz="2600"/>
            </a:lvl1pPr>
            <a:lvl2pPr>
              <a:defRPr sz="2600"/>
            </a:lvl2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064432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457200" y="1333500"/>
            <a:ext cx="4038600" cy="34303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4648200" y="1333500"/>
            <a:ext cx="4038600" cy="343032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  <a:p>
            <a:pPr lvl="1"/>
            <a:r>
              <a:rPr lang="es-ES_tradnl" smtClean="0"/>
              <a:t>Segundo nivel</a:t>
            </a:r>
          </a:p>
          <a:p>
            <a:pPr lvl="2"/>
            <a:r>
              <a:rPr lang="es-ES_tradnl" smtClean="0"/>
              <a:t>Tercer nivel</a:t>
            </a:r>
          </a:p>
          <a:p>
            <a:pPr lvl="3"/>
            <a:r>
              <a:rPr lang="es-ES_tradnl" smtClean="0"/>
              <a:t>Cuarto nivel</a:t>
            </a:r>
          </a:p>
          <a:p>
            <a:pPr lvl="4"/>
            <a:r>
              <a:rPr lang="es-ES_tradnl" smtClean="0"/>
              <a:t>Quinto nivel</a:t>
            </a:r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790623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eño con gráfi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  <p:sp>
        <p:nvSpPr>
          <p:cNvPr id="7" name="Marcador de gráfico 6"/>
          <p:cNvSpPr>
            <a:spLocks noGrp="1"/>
          </p:cNvSpPr>
          <p:nvPr>
            <p:ph type="chart" sz="quarter" idx="13"/>
          </p:nvPr>
        </p:nvSpPr>
        <p:spPr>
          <a:xfrm>
            <a:off x="457200" y="1463123"/>
            <a:ext cx="8229600" cy="3300701"/>
          </a:xfrm>
        </p:spPr>
        <p:txBody>
          <a:bodyPr/>
          <a:lstStyle/>
          <a:p>
            <a:r>
              <a:rPr lang="es-ES_tradnl" smtClean="0"/>
              <a:t>Haga clic en el icono para agregar un gráfico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548201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 dirty="0"/>
          </a:p>
        </p:txBody>
      </p:sp>
      <p:sp>
        <p:nvSpPr>
          <p:cNvPr id="6" name="Marcador de posición de imagen 2"/>
          <p:cNvSpPr>
            <a:spLocks noGrp="1"/>
          </p:cNvSpPr>
          <p:nvPr>
            <p:ph type="pic" idx="1"/>
          </p:nvPr>
        </p:nvSpPr>
        <p:spPr>
          <a:xfrm>
            <a:off x="457200" y="1348978"/>
            <a:ext cx="8229600" cy="2988508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_tradnl" smtClean="0"/>
              <a:t>Arrastre la imagen al marcador de posición o haga clic en el icono para agregar</a:t>
            </a:r>
            <a:endParaRPr lang="es-ES" dirty="0"/>
          </a:p>
        </p:txBody>
      </p:sp>
      <p:sp>
        <p:nvSpPr>
          <p:cNvPr id="7" name="Marcador de texto 3"/>
          <p:cNvSpPr>
            <a:spLocks noGrp="1"/>
          </p:cNvSpPr>
          <p:nvPr>
            <p:ph type="body" sz="half" idx="2"/>
          </p:nvPr>
        </p:nvSpPr>
        <p:spPr>
          <a:xfrm>
            <a:off x="457200" y="4472782"/>
            <a:ext cx="8229600" cy="29104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_tradnl" smtClean="0"/>
              <a:t>Haga clic para modificar el estilo de texto del patrón</a:t>
            </a:r>
          </a:p>
        </p:txBody>
      </p:sp>
    </p:spTree>
    <p:extLst>
      <p:ext uri="{BB962C8B-B14F-4D97-AF65-F5344CB8AC3E}">
        <p14:creationId xmlns:p14="http://schemas.microsoft.com/office/powerpoint/2010/main" val="34845016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eño personaliza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smtClean="0"/>
              <a:t>Clic para editar título</a:t>
            </a:r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122449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n 4" descr="fondo 2727.ai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871648"/>
            <a:ext cx="9144000" cy="38809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68790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9991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08413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2347126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9" Type="http://schemas.openxmlformats.org/officeDocument/2006/relationships/image" Target="../media/image1.emf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theme" Target="../theme/theme2.xml"/><Relationship Id="rId3" Type="http://schemas.openxmlformats.org/officeDocument/2006/relationships/image" Target="../media/image1.emf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theme" Target="../theme/theme3.xml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theme" Target="../theme/theme4.xml"/><Relationship Id="rId3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 descr="fondo 2727.ai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42" y="0"/>
            <a:ext cx="8985258" cy="1119105"/>
          </a:xfrm>
          <a:prstGeom prst="rect">
            <a:avLst/>
          </a:prstGeom>
        </p:spPr>
      </p:pic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457200" y="166605"/>
            <a:ext cx="8229600" cy="9525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_tradnl" dirty="0" smtClean="0"/>
              <a:t>Clic para editar título</a:t>
            </a:r>
            <a:endParaRPr lang="es-ES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457200" y="1333501"/>
            <a:ext cx="8229600" cy="34237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_tradnl" dirty="0" smtClean="0"/>
              <a:t>Haga clic para modificar el estilo de texto del patrón</a:t>
            </a:r>
          </a:p>
          <a:p>
            <a:pPr lvl="1"/>
            <a:r>
              <a:rPr lang="es-ES_tradnl" dirty="0" smtClean="0"/>
              <a:t>Segundo nivel</a:t>
            </a:r>
          </a:p>
          <a:p>
            <a:pPr lvl="2"/>
            <a:r>
              <a:rPr lang="es-ES_tradnl" dirty="0" smtClean="0"/>
              <a:t>Tercer nivel</a:t>
            </a:r>
          </a:p>
          <a:p>
            <a:pPr lvl="3"/>
            <a:r>
              <a:rPr lang="es-ES_tradnl" dirty="0" smtClean="0"/>
              <a:t>Cuarto nivel</a:t>
            </a:r>
          </a:p>
          <a:p>
            <a:pPr lvl="4"/>
            <a:r>
              <a:rPr lang="es-ES_tradnl" dirty="0" smtClean="0"/>
              <a:t>Quinto nivel</a:t>
            </a:r>
            <a:endParaRPr lang="es-ES" dirty="0"/>
          </a:p>
        </p:txBody>
      </p:sp>
      <p:sp>
        <p:nvSpPr>
          <p:cNvPr id="10" name="Rectángulo 9"/>
          <p:cNvSpPr/>
          <p:nvPr/>
        </p:nvSpPr>
        <p:spPr>
          <a:xfrm>
            <a:off x="0" y="166605"/>
            <a:ext cx="158742" cy="952500"/>
          </a:xfrm>
          <a:prstGeom prst="rect">
            <a:avLst/>
          </a:prstGeom>
          <a:solidFill>
            <a:srgbClr val="FF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9" name="Rectángulo 8"/>
          <p:cNvSpPr/>
          <p:nvPr/>
        </p:nvSpPr>
        <p:spPr>
          <a:xfrm flipV="1">
            <a:off x="169335" y="5472467"/>
            <a:ext cx="8815911" cy="1477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11" name="CuadroTexto 10"/>
          <p:cNvSpPr txBox="1"/>
          <p:nvPr/>
        </p:nvSpPr>
        <p:spPr>
          <a:xfrm>
            <a:off x="6388926" y="5064622"/>
            <a:ext cx="20443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100" b="0" i="0" dirty="0" smtClean="0">
                <a:solidFill>
                  <a:srgbClr val="0070C0"/>
                </a:solidFill>
                <a:latin typeface="Arial" charset="0"/>
                <a:ea typeface="Arial" charset="0"/>
                <a:cs typeface="Arial" charset="0"/>
              </a:rPr>
              <a:t>me</a:t>
            </a:r>
            <a:r>
              <a:rPr lang="es-ES_tradnl" sz="2100" b="0" i="0" dirty="0" err="1" smtClean="0">
                <a:solidFill>
                  <a:srgbClr val="0070C0"/>
                </a:solidFill>
                <a:latin typeface="Arial" charset="0"/>
                <a:ea typeface="Arial" charset="0"/>
                <a:cs typeface="Arial" charset="0"/>
              </a:rPr>
              <a:t>dicina.uc.cl</a:t>
            </a:r>
            <a:endParaRPr lang="es-ES" sz="2100" b="0" i="0" dirty="0">
              <a:solidFill>
                <a:srgbClr val="0070C0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2" name="Imagen 11" descr="fondo 2727.ai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773" y="5472461"/>
            <a:ext cx="1650896" cy="147763"/>
          </a:xfrm>
          <a:prstGeom prst="rect">
            <a:avLst/>
          </a:prstGeom>
          <a:solidFill>
            <a:srgbClr val="3366FF"/>
          </a:solidFill>
        </p:spPr>
      </p:pic>
    </p:spTree>
    <p:extLst>
      <p:ext uri="{BB962C8B-B14F-4D97-AF65-F5344CB8AC3E}">
        <p14:creationId xmlns:p14="http://schemas.microsoft.com/office/powerpoint/2010/main" val="864562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2" r:id="rId3"/>
    <p:sldLayoutId id="2147483658" r:id="rId4"/>
    <p:sldLayoutId id="2147483654" r:id="rId5"/>
    <p:sldLayoutId id="2147483659" r:id="rId6"/>
    <p:sldLayoutId id="2147483655" r:id="rId7"/>
  </p:sldLayoutIdLst>
  <p:txStyles>
    <p:titleStyle>
      <a:lvl1pPr algn="l" defTabSz="457200" rtl="0" eaLnBrk="1" latinLnBrk="0" hangingPunct="1">
        <a:spcBef>
          <a:spcPct val="0"/>
        </a:spcBef>
        <a:buNone/>
        <a:defRPr sz="3200" b="1" kern="1200">
          <a:solidFill>
            <a:schemeClr val="bg1"/>
          </a:solidFill>
          <a:latin typeface="Arial"/>
          <a:ea typeface="+mj-ea"/>
          <a:cs typeface="Arial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2800" b="0" kern="1200">
          <a:solidFill>
            <a:schemeClr val="tx1"/>
          </a:solidFill>
          <a:latin typeface="Arial"/>
          <a:ea typeface="+mn-ea"/>
          <a:cs typeface="Arial"/>
        </a:defRPr>
      </a:lvl1pPr>
      <a:lvl2pPr marL="365125" indent="0" algn="l" defTabSz="457200" rtl="0" eaLnBrk="1" latinLnBrk="0" hangingPunct="1">
        <a:spcBef>
          <a:spcPct val="20000"/>
        </a:spcBef>
        <a:buFontTx/>
        <a:buNone/>
        <a:defRPr sz="2800" kern="1200">
          <a:solidFill>
            <a:schemeClr val="tx1"/>
          </a:solidFill>
          <a:latin typeface="Arial"/>
          <a:ea typeface="+mn-ea"/>
          <a:cs typeface="Arial"/>
        </a:defRPr>
      </a:lvl2pPr>
      <a:lvl3pPr marL="630238" indent="-2413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Arial"/>
          <a:ea typeface="+mn-ea"/>
          <a:cs typeface="Arial"/>
        </a:defRPr>
      </a:lvl3pPr>
      <a:lvl4pPr marL="982663" indent="-268288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Arial"/>
          <a:ea typeface="+mn-ea"/>
          <a:cs typeface="Arial"/>
        </a:defRPr>
      </a:lvl4pPr>
      <a:lvl5pPr marL="982662" indent="0" algn="l" defTabSz="457200" rtl="0" eaLnBrk="1" latinLnBrk="0" hangingPunct="1">
        <a:spcBef>
          <a:spcPct val="20000"/>
        </a:spcBef>
        <a:buFontTx/>
        <a:buNone/>
        <a:defRPr sz="2000" kern="1200">
          <a:solidFill>
            <a:schemeClr val="tx1"/>
          </a:solidFill>
          <a:latin typeface="Arial"/>
          <a:ea typeface="+mn-ea"/>
          <a:cs typeface="Arial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Imagen 10" descr="fondo 2727.ai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742" y="0"/>
            <a:ext cx="8985258" cy="1119105"/>
          </a:xfrm>
          <a:prstGeom prst="rect">
            <a:avLst/>
          </a:prstGeom>
        </p:spPr>
      </p:pic>
      <p:sp>
        <p:nvSpPr>
          <p:cNvPr id="7" name="Rectángulo 6"/>
          <p:cNvSpPr/>
          <p:nvPr/>
        </p:nvSpPr>
        <p:spPr>
          <a:xfrm>
            <a:off x="0" y="166605"/>
            <a:ext cx="158742" cy="952500"/>
          </a:xfrm>
          <a:prstGeom prst="rect">
            <a:avLst/>
          </a:prstGeom>
          <a:solidFill>
            <a:srgbClr val="FFE2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3" name="Rectángulo 12"/>
          <p:cNvSpPr/>
          <p:nvPr/>
        </p:nvSpPr>
        <p:spPr>
          <a:xfrm>
            <a:off x="169334" y="1119105"/>
            <a:ext cx="8974667" cy="265087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14" name="Título 1"/>
          <p:cNvSpPr txBox="1">
            <a:spLocks/>
          </p:cNvSpPr>
          <p:nvPr/>
        </p:nvSpPr>
        <p:spPr>
          <a:xfrm>
            <a:off x="1460665" y="1690813"/>
            <a:ext cx="7096836" cy="547398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s-ES_tradnl" sz="3200" b="1" i="0" dirty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Clic para editar nombre </a:t>
            </a:r>
            <a:r>
              <a:rPr lang="es-ES_tradnl" sz="3200" b="1" i="0" smtClean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de capítulo</a:t>
            </a:r>
            <a:endParaRPr lang="es-ES" sz="3200" b="1" i="0" dirty="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</p:txBody>
      </p:sp>
      <p:sp>
        <p:nvSpPr>
          <p:cNvPr id="12" name="Rectángulo 11"/>
          <p:cNvSpPr/>
          <p:nvPr/>
        </p:nvSpPr>
        <p:spPr>
          <a:xfrm flipV="1">
            <a:off x="169335" y="5472467"/>
            <a:ext cx="8815911" cy="147759"/>
          </a:xfrm>
          <a:prstGeom prst="rect">
            <a:avLst/>
          </a:prstGeom>
          <a:solidFill>
            <a:schemeClr val="bg1">
              <a:lumMod val="7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dirty="0" smtClean="0"/>
              <a:t> </a:t>
            </a:r>
            <a:endParaRPr lang="es-ES" dirty="0"/>
          </a:p>
        </p:txBody>
      </p:sp>
      <p:sp>
        <p:nvSpPr>
          <p:cNvPr id="15" name="CuadroTexto 14"/>
          <p:cNvSpPr txBox="1"/>
          <p:nvPr/>
        </p:nvSpPr>
        <p:spPr>
          <a:xfrm>
            <a:off x="6388926" y="5064622"/>
            <a:ext cx="2044384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s-ES" sz="2100" b="0" i="0" dirty="0" smtClean="0">
                <a:solidFill>
                  <a:srgbClr val="0070C0"/>
                </a:solidFill>
                <a:latin typeface="Arial" charset="0"/>
                <a:ea typeface="Arial" charset="0"/>
                <a:cs typeface="Arial" charset="0"/>
              </a:rPr>
              <a:t>me</a:t>
            </a:r>
            <a:r>
              <a:rPr lang="es-ES_tradnl" sz="2100" b="0" i="0" dirty="0" err="1" smtClean="0">
                <a:solidFill>
                  <a:srgbClr val="0070C0"/>
                </a:solidFill>
                <a:latin typeface="Arial" charset="0"/>
                <a:ea typeface="Arial" charset="0"/>
                <a:cs typeface="Arial" charset="0"/>
              </a:rPr>
              <a:t>dicina.uc.cl</a:t>
            </a:r>
            <a:endParaRPr lang="es-ES" sz="2100" b="0" i="0" dirty="0">
              <a:solidFill>
                <a:srgbClr val="0070C0"/>
              </a:solidFill>
              <a:latin typeface="Arial" charset="0"/>
              <a:ea typeface="Arial" charset="0"/>
              <a:cs typeface="Arial" charset="0"/>
            </a:endParaRPr>
          </a:p>
        </p:txBody>
      </p:sp>
      <p:pic>
        <p:nvPicPr>
          <p:cNvPr id="16" name="Imagen 15" descr="fondo 2727.ai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0773" y="5472461"/>
            <a:ext cx="1650896" cy="147763"/>
          </a:xfrm>
          <a:prstGeom prst="rect">
            <a:avLst/>
          </a:prstGeom>
          <a:solidFill>
            <a:srgbClr val="3366FF"/>
          </a:solidFill>
        </p:spPr>
      </p:pic>
    </p:spTree>
    <p:extLst>
      <p:ext uri="{BB962C8B-B14F-4D97-AF65-F5344CB8AC3E}">
        <p14:creationId xmlns:p14="http://schemas.microsoft.com/office/powerpoint/2010/main" val="11295664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281750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 descr="UC-color-TR-01.png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58852" y="1129477"/>
            <a:ext cx="5210746" cy="32252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4904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39160060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s-ES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894429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9473466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gráfico 2"/>
          <p:cNvSpPr>
            <a:spLocks noGrp="1"/>
          </p:cNvSpPr>
          <p:nvPr>
            <p:ph type="chart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2707447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3" name="Marcador de conteni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s-ES" dirty="0"/>
          </a:p>
        </p:txBody>
      </p:sp>
    </p:spTree>
    <p:extLst>
      <p:ext uri="{BB962C8B-B14F-4D97-AF65-F5344CB8AC3E}">
        <p14:creationId xmlns:p14="http://schemas.microsoft.com/office/powerpoint/2010/main" val="9599973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555381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>
                <a:latin typeface="Calibri"/>
              </a:defRPr>
            </a:pPr>
            <a:r>
              <a:t>Terapias Antitrombóticas y Endovasculares en ACV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600">
                <a:latin typeface="Calibri"/>
              </a:defRPr>
            </a:pPr>
            <a:r>
              <a:t>Análisis de la Evidencia Actual</a:t>
            </a:r>
          </a:p>
          <a:p>
            <a:pPr>
              <a:defRPr sz="2600">
                <a:latin typeface="Calibri"/>
              </a:defRPr>
            </a:pPr>
            <a:r>
              <a:t>Dr. Cristian Ugalde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Calibri"/>
              </a:defRPr>
            </a:pPr>
            <a:r>
              <a:t>Contexto Clínico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El manejo del ACV isquémico agudo se divide en dos pilares fundamentales: recanalización temprana (trombectomía/trombólisis) y prevención secundaria precoz (antitrombóticos).</a:t>
            </a:r>
          </a:p>
          <a:p>
            <a:pPr>
              <a:defRPr sz="2000">
                <a:latin typeface="Calibri"/>
              </a:defRPr>
            </a:pPr>
            <a:r>
              <a:t>La oclusión de gran vaso requiere terapias mecánicas invasivas (trombectomía) cada vez con ventanas terapéuticas más amplias.</a:t>
            </a:r>
          </a:p>
          <a:p>
            <a:pPr>
              <a:defRPr sz="2000">
                <a:latin typeface="Calibri"/>
              </a:defRPr>
            </a:pPr>
            <a:r>
              <a:t>El ACV menor y el AIT de alto riesgo se benefician de doble antiagregación plaquetaria (DAPT) a corto plazo para estabilizar la placa y prevenir recurrencia.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Calibri"/>
              </a:defRPr>
            </a:pPr>
            <a:r>
              <a:t>Dr. Cristian Ugalde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Calibri"/>
              </a:defRPr>
            </a:pPr>
            <a:r>
              <a:t>Objetivos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Revisar la evidencia pivotal sobre la terapia endovascular (HERMES, AURORA) y su expansión a la circulación posterior.</a:t>
            </a:r>
          </a:p>
          <a:p>
            <a:pPr>
              <a:defRPr sz="2000">
                <a:latin typeface="Calibri"/>
              </a:defRPr>
            </a:pPr>
            <a:r>
              <a:t>Analizar los resultados a corto y largo plazo de la Doble Antiagregación Plaquetaria (CHANCE, POINT).</a:t>
            </a:r>
          </a:p>
          <a:p>
            <a:pPr>
              <a:defRPr sz="2000">
                <a:latin typeface="Calibri"/>
              </a:defRPr>
            </a:pPr>
            <a:r>
              <a:t>Establecer directrices clínicas basadas en los resultados de seguridad y eficacia de estos grandes ensayos.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Calibri"/>
              </a:defRPr>
            </a:pPr>
            <a:r>
              <a:t>Dr. Cristian Ugalde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Calibri"/>
              </a:defRPr>
            </a:pPr>
            <a:r>
              <a:t>Estudio 1: Ensayo CHANCE (2015 Follow-up) - Metodología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Estudio prospectivo en pacientes con TIA de alto riesgo o ACV menor en China.</a:t>
            </a:r>
          </a:p>
          <a:p>
            <a:pPr>
              <a:defRPr sz="2000">
                <a:latin typeface="Calibri"/>
              </a:defRPr>
            </a:pPr>
            <a:r>
              <a:t>Comparó Clopidogrel + Aspirina (por 21 días) versus Aspirina sola.</a:t>
            </a:r>
          </a:p>
          <a:p>
            <a:pPr>
              <a:defRPr sz="2000">
                <a:latin typeface="Calibri"/>
              </a:defRPr>
            </a:pPr>
            <a:r>
              <a:t>Seguimiento extendido a 1 año para evaluar la persistencia del beneficio de la prevención secundaria.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Calibri"/>
              </a:defRPr>
            </a:pPr>
            <a:r>
              <a:t>Ref: Ensayo CHANCE (2015 Follow-up) | Dr. Cristian Ugalde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Calibri"/>
              </a:defRPr>
            </a:pPr>
            <a:r>
              <a:t>Estudio 1: Ensayo CHANCE (2015 Follow-up) - 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Reducción significativa del riesgo de ACV a los 90 días (HR 0.68, P&lt;0.001) sin aumento de hemorragia severa.</a:t>
            </a:r>
          </a:p>
          <a:p>
            <a:pPr>
              <a:defRPr sz="2000">
                <a:latin typeface="Calibri"/>
              </a:defRPr>
            </a:pPr>
            <a:r>
              <a:t>A 1 año, el beneficio clínico neto se mantuvo constante.</a:t>
            </a:r>
          </a:p>
          <a:p>
            <a:pPr>
              <a:defRPr sz="2000">
                <a:latin typeface="Calibri"/>
              </a:defRPr>
            </a:pPr>
            <a:r>
              <a:t>Conclusión: El efecto protector temprano de la DAPT no presenta efecto rebote tardío.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Calibri"/>
              </a:defRPr>
            </a:pPr>
            <a:r>
              <a:t>Ref: Ensayo CHANCE (2015 Follow-up) | Dr. Cristian Ugalde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Calibri"/>
              </a:defRPr>
            </a:pPr>
            <a:r>
              <a:t>Estudio 2: Ensayo POINT (2018) - Metodología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Ensayo clínico aleatorizado internacional para ACV isquémico menor o AIT de alto riesgo.</a:t>
            </a:r>
          </a:p>
          <a:p>
            <a:pPr>
              <a:defRPr sz="2000">
                <a:latin typeface="Calibri"/>
              </a:defRPr>
            </a:pPr>
            <a:r>
              <a:t>Clopidogrel + Aspirina vs Aspirina sola, iniciados dentro de 12 horas.</a:t>
            </a:r>
          </a:p>
          <a:p>
            <a:pPr>
              <a:defRPr sz="2000">
                <a:latin typeface="Calibri"/>
              </a:defRPr>
            </a:pPr>
            <a:r>
              <a:t>Duración planificada de la terapia DAPT: 90 días.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Calibri"/>
              </a:defRPr>
            </a:pPr>
            <a:r>
              <a:t>Ref: Ensayo POINT (2018) | Dr. Cristian Ugalde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Calibri"/>
              </a:defRPr>
            </a:pPr>
            <a:r>
              <a:t>Estudio 2: Ensayo POINT (2018) - 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Reducción del ACV isquémico mayor a 90 días comparado con monoterapia.</a:t>
            </a:r>
          </a:p>
          <a:p>
            <a:pPr>
              <a:defRPr sz="2000">
                <a:latin typeface="Calibri"/>
              </a:defRPr>
            </a:pPr>
            <a:r>
              <a:t>Sin embargo, hubo un incremento inaceptable de hemorragias mayores al prolongar DAPT.</a:t>
            </a:r>
          </a:p>
          <a:p>
            <a:pPr>
              <a:defRPr sz="2000">
                <a:latin typeface="Calibri"/>
              </a:defRPr>
            </a:pPr>
            <a:r>
              <a:t>Conclusión clínica: Limitar el DAPT a 21 días maximiza el beneficio y minimiza el riesgo hemorrágico.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Calibri"/>
              </a:defRPr>
            </a:pPr>
            <a:r>
              <a:t>Ref: Ensayo POINT (2018) | Dr. Cristian Ugalde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Calibri"/>
              </a:defRPr>
            </a:pPr>
            <a:r>
              <a:t>Estudio 3: Colaboración HERMES (Lancet) - Metodología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Metanálisis de datos individuales de los ensayos pivotales de trombectomía mecánica (MR CLEAN, ESCAPE, EXTEND-IA, SWIFT PRIME, REVASCAT).</a:t>
            </a:r>
          </a:p>
          <a:p>
            <a:pPr>
              <a:defRPr sz="2000">
                <a:latin typeface="Calibri"/>
              </a:defRPr>
            </a:pPr>
            <a:r>
              <a:t>Pacientes con oclusión de gran vaso anterior, asignados a trombectomía vs tratamiento médico estándar.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Calibri"/>
              </a:defRPr>
            </a:pPr>
            <a:r>
              <a:t>Ref: Colaboración HERMES (Lancet) | Dr. Cristian Ugalde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Calibri"/>
              </a:defRPr>
            </a:pPr>
            <a:r>
              <a:t>Estudio 3: Colaboración HERMES (Lancet) - 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Beneficio abrumador: El NNT para reducir discapacidad fue de 2.6.</a:t>
            </a:r>
          </a:p>
          <a:p>
            <a:pPr>
              <a:defRPr sz="2000">
                <a:latin typeface="Calibri"/>
              </a:defRPr>
            </a:pPr>
            <a:r>
              <a:t>Mejora significativa en la escala modificada de Rankin (mRS) a los 90 días en todos los subgrupos.</a:t>
            </a:r>
          </a:p>
          <a:p>
            <a:pPr>
              <a:defRPr sz="2000">
                <a:latin typeface="Calibri"/>
              </a:defRPr>
            </a:pPr>
            <a:r>
              <a:t>Cimentó la trombectomía mecánica como el estándar de cuidado global.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Calibri"/>
              </a:defRPr>
            </a:pPr>
            <a:r>
              <a:t>Ref: Colaboración HERMES (Lancet) | Dr. Cristian Ugalde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Calibri"/>
              </a:defRPr>
            </a:pPr>
            <a:r>
              <a:t>Estudio 4: Colaboración AURORA (Lancet 2022) - Metodología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Metanálisis de datos de pacientes individuales en ventana extendida (6 a 24 horas).</a:t>
            </a:r>
          </a:p>
          <a:p>
            <a:pPr>
              <a:defRPr sz="2000">
                <a:latin typeface="Calibri"/>
              </a:defRPr>
            </a:pPr>
            <a:r>
              <a:t>Pacientes seleccionados por mismatch de perfusión o criterios clínicos-radiológicos avanzados (ej. DAWN, DEFUSE-3).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Calibri"/>
              </a:defRPr>
            </a:pPr>
            <a:r>
              <a:t>Ref: Colaboración AURORA (Lancet 2022) | Dr. Cristian Ugalde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Calibri"/>
              </a:defRPr>
            </a:pPr>
            <a:r>
              <a:t>Estudio 4: Colaboración AURORA (Lancet 2022) - 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Demostró que el tejido salvable (penumbra) dicta el beneficio, no estrictamente el reloj biológico.</a:t>
            </a:r>
          </a:p>
          <a:p>
            <a:pPr>
              <a:defRPr sz="2000">
                <a:latin typeface="Calibri"/>
              </a:defRPr>
            </a:pPr>
            <a:r>
              <a:t>Beneficio contundente en el outcome funcional a 90 días (mRS) en terapia endovascular más allá de las 6 horas.</a:t>
            </a:r>
          </a:p>
          <a:p>
            <a:pPr>
              <a:defRPr sz="2000">
                <a:latin typeface="Calibri"/>
              </a:defRPr>
            </a:pPr>
            <a:r>
              <a:t>Redefinió las guías internacionales para considerar trombectomía tardía.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Calibri"/>
              </a:defRPr>
            </a:pPr>
            <a:r>
              <a:t>Ref: Colaboración AURORA (Lancet 2022) | Dr. Cristian Ugalde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Calibri"/>
              </a:defRPr>
            </a:pPr>
            <a:r>
              <a:t>Estudio 5: Trombectomía en Arteria Basilar (BMC 2022) - Metodología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Revisión sistemática y metanálisis de ensayos clínicos aleatorizados en oclusión de arteria basilar.</a:t>
            </a:r>
          </a:p>
          <a:p>
            <a:pPr>
              <a:defRPr sz="2000">
                <a:latin typeface="Calibri"/>
              </a:defRPr>
            </a:pPr>
            <a:r>
              <a:t>Condición asociada históricamente a altísima mortalidad y morbilidad neurológica grave.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Calibri"/>
              </a:defRPr>
            </a:pPr>
            <a:r>
              <a:t>Ref: Trombectomía en Arteria Basilar (BMC 2022) | Dr. Cristian Ugalde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Calibri"/>
              </a:defRPr>
            </a:pPr>
            <a:r>
              <a:t>Estudio 5: Trombectomía en Arteria Basilar (BMC 2022) - 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Mejora estadísticamente significativa en los outcomes funcionales al comparar tratamiento endovascular vs médico.</a:t>
            </a:r>
          </a:p>
          <a:p>
            <a:pPr>
              <a:defRPr sz="2000">
                <a:latin typeface="Calibri"/>
              </a:defRPr>
            </a:pPr>
            <a:r>
              <a:t>Reducción de la mortalidad, validando la intervención mecánica en circulación posterior a pesar de los fracasos de estudios tempranos (BEST, BASICS).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Calibri"/>
              </a:defRPr>
            </a:pPr>
            <a:r>
              <a:t>Ref: Trombectomía en Arteria Basilar (BMC 2022) | Dr. Cristian Ugalde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Calibri"/>
              </a:defRPr>
            </a:pPr>
            <a:r>
              <a:t>Estudio 6: Estado del Arte (Neurology Review) - Metodología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Revisión de la evolución del manejo del ACV que cuesta $46 billones anuales en USA.</a:t>
            </a:r>
          </a:p>
          <a:p>
            <a:pPr>
              <a:defRPr sz="2000">
                <a:latin typeface="Calibri"/>
              </a:defRPr>
            </a:pPr>
            <a:r>
              <a:t>Análisis de las progresiones desde prevención hasta las técnicas de reperfusión avanzadas.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Calibri"/>
              </a:defRPr>
            </a:pPr>
            <a:r>
              <a:t>Ref: Estado del Arte (Neurology Review) | Dr. Cristian Ugalde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Calibri"/>
              </a:defRPr>
            </a:pPr>
            <a:r>
              <a:t>Estudio 6: Estado del Arte (Neurology Review) - Resultados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La viabilidad celular y el reclutamiento de colaterales dictan el pronóstico.</a:t>
            </a:r>
          </a:p>
          <a:p>
            <a:pPr>
              <a:defRPr sz="2000">
                <a:latin typeface="Calibri"/>
              </a:defRPr>
            </a:pPr>
            <a:r>
              <a:t>La optimización de sistemas hospitalarios y redes de derivación es tan vital como el tratamiento farmacológico en la fase aguda.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Calibri"/>
              </a:defRPr>
            </a:pPr>
            <a:r>
              <a:t>Ref: Estado del Arte (Neurology Review) | Dr. Cristian Ugalde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Calibri"/>
              </a:defRPr>
            </a:pPr>
            <a:r>
              <a:t>Discusión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Dilema DAPT: Existe una tensión entre el beneficio embólico agudo y el riesgo hemorrágico crónico. Las guías hoy dictan ciclos cortos (21 días máximo).</a:t>
            </a:r>
          </a:p>
          <a:p>
            <a:pPr>
              <a:defRPr sz="2000">
                <a:latin typeface="Calibri"/>
              </a:defRPr>
            </a:pPr>
            <a:r>
              <a:t>Selección en Trombectomía: El paradigma ha migrado de una estricta ventana de tiempo a un modelo centrado en la viabilidad tisular guiado por neuroimagen avanzada.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Calibri"/>
              </a:defRPr>
            </a:pPr>
            <a:r>
              <a:t>Dr. Cristian Ugalde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Calibri"/>
              </a:defRPr>
            </a:pPr>
            <a:r>
              <a:t>Conclusiones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La recanalización endovascular en gran vaso y circulación posterior es mandatoria si hay tejido salvable, independiente de si son 6 o 24 horas.</a:t>
            </a:r>
          </a:p>
          <a:p>
            <a:pPr>
              <a:defRPr sz="2000">
                <a:latin typeface="Calibri"/>
              </a:defRPr>
            </a:pPr>
            <a:r>
              <a:t>Para vasos de pequeño calibre o AIT, la doble antiagregación es la piedra angular, pero su prolongación indiscriminada produce daño.</a:t>
            </a:r>
          </a:p>
          <a:p>
            <a:pPr>
              <a:defRPr sz="2000">
                <a:latin typeface="Calibri"/>
              </a:defRPr>
            </a:pPr>
            <a:r>
              <a:t>La individualización del riesgo trombótico vs hemorrágico debe regir la decisión del clínico en la sala de urgencias.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Calibri"/>
              </a:defRPr>
            </a:pPr>
            <a:r>
              <a:t>Dr. Cristian Ugalde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000">
                <a:latin typeface="Calibri"/>
              </a:defRPr>
            </a:pPr>
            <a:r>
              <a:t>Bibliografía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latin typeface="Calibri"/>
              </a:defRPr>
            </a:pPr>
            <a:r>
              <a:t>1. Johnston SC, et al. Clopidogrel and Aspirin in Acute Ischemic Stroke and High-Risk TIA (POINT). N Engl J Med. 2018.</a:t>
            </a:r>
          </a:p>
          <a:p>
            <a:pPr>
              <a:defRPr sz="2000">
                <a:latin typeface="Calibri"/>
              </a:defRPr>
            </a:pPr>
            <a:r>
              <a:t>2. Wang Y, et al. Clopidogrel with Aspirin in Acute Minor Stroke or TIA (CHANCE). N Engl J Med. 2013 / Follow-up 2015.</a:t>
            </a:r>
          </a:p>
          <a:p>
            <a:pPr>
              <a:defRPr sz="2000">
                <a:latin typeface="Calibri"/>
              </a:defRPr>
            </a:pPr>
            <a:r>
              <a:t>3. Goyal M, et al. Endovascular thrombectomy after large-vessel ischaemic stroke (HERMES). Lancet. 2016.</a:t>
            </a:r>
          </a:p>
          <a:p>
            <a:pPr>
              <a:defRPr sz="2000">
                <a:latin typeface="Calibri"/>
              </a:defRPr>
            </a:pPr>
            <a:r>
              <a:t>4. Jovin TG, et al. Thrombectomy for anterior circulation stroke beyond 6 h (AURORA). Lancet. 2022.</a:t>
            </a:r>
          </a:p>
          <a:p>
            <a:pPr>
              <a:defRPr sz="2000">
                <a:latin typeface="Calibri"/>
              </a:defRPr>
            </a:pPr>
            <a:r>
              <a:t>5. Malik A, et al. Mechanical thrombectomy in acute basilar artery stroke: meta-analysis. BMC Neurology. 2022.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000">
                <a:latin typeface="Calibri"/>
              </a:defRPr>
            </a:pPr>
            <a:r>
              <a:t>Dr. Cristian Ugalde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 FM 90AÑO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PT FM 90AÑOS" id="{3D845E86-9C6A-0549-A3CE-D0F754A7CABE}" vid="{E2813782-16D1-8C44-800A-1FBAD7083ABB}"/>
    </a:ext>
  </a:extLst>
</a:theme>
</file>

<file path=ppt/theme/theme2.xml><?xml version="1.0" encoding="utf-8"?>
<a:theme xmlns:a="http://schemas.openxmlformats.org/drawingml/2006/main" name="Capítulo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PT FM 90AÑOS" id="{3D845E86-9C6A-0549-A3CE-D0F754A7CABE}" vid="{E20D0A4A-EFDB-AE45-B340-07D876503796}"/>
    </a:ext>
  </a:extLst>
</a:theme>
</file>

<file path=ppt/theme/theme3.xml><?xml version="1.0" encoding="utf-8"?>
<a:theme xmlns:a="http://schemas.openxmlformats.org/drawingml/2006/main" name="Hoja Blanc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PPT FM 90AÑOS" id="{3D845E86-9C6A-0549-A3CE-D0F754A7CABE}" vid="{D4F6500B-5608-4A45-A522-F6045FC731D6}"/>
    </a:ext>
  </a:extLst>
</a:theme>
</file>

<file path=ppt/theme/theme4.xml><?xml version="1.0" encoding="utf-8"?>
<a:theme xmlns:a="http://schemas.openxmlformats.org/drawingml/2006/main" name="Diseño personalizado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xmlns="" name="PPT FM 90AÑOS" id="{3D845E86-9C6A-0549-A3CE-D0F754A7CABE}" vid="{CF1779F5-055F-9D44-A040-FD54422D57F8}"/>
    </a:ext>
  </a:extLst>
</a:theme>
</file>

<file path=ppt/theme/theme5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PPT FM 90AÑOS.potx</Template>
  <TotalTime>328</TotalTime>
  <Words>0</Words>
  <Application>Microsoft Macintosh PowerPoint</Application>
  <PresentationFormat>Presentación en pantalla (16:10)</PresentationFormat>
  <Paragraphs>0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4</vt:i4>
      </vt:variant>
      <vt:variant>
        <vt:lpstr>Títulos de diapositiva</vt:lpstr>
      </vt:variant>
      <vt:variant>
        <vt:i4>6</vt:i4>
      </vt:variant>
    </vt:vector>
  </HeadingPairs>
  <TitlesOfParts>
    <vt:vector size="10" baseType="lpstr">
      <vt:lpstr>PPT FM 90AÑOS</vt:lpstr>
      <vt:lpstr>Capítulo</vt:lpstr>
      <vt:lpstr>Hoja Blanca</vt:lpstr>
      <vt:lpstr>Diseño personalizado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XX</dc:creator>
  <cp:lastModifiedBy>SOLEDAD</cp:lastModifiedBy>
  <cp:revision>42</cp:revision>
  <cp:lastPrinted>2014-03-20T19:58:25Z</cp:lastPrinted>
  <dcterms:created xsi:type="dcterms:W3CDTF">2013-12-19T15:07:33Z</dcterms:created>
  <dcterms:modified xsi:type="dcterms:W3CDTF">2019-02-05T13:05:56Z</dcterms:modified>
</cp:coreProperties>
</file>